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284C7"/>
                </a:solidFill>
              </a:defRPr>
            </a:pPr>
            <a:r>
              <a:t>ACADEMIC CAPSTONE PROJECT REPORT PRESENTATION</a:t>
            </a:r>
          </a:p>
          <a:p>
            <a:pPr>
              <a:spcAft>
                <a:spcPts val="600"/>
              </a:spcAft>
              <a:defRPr sz="4400" b="1">
                <a:solidFill>
                  <a:srgbClr val="1E3A8A"/>
                </a:solidFill>
              </a:defRPr>
            </a:pPr>
            <a:r>
              <a:t>Career Graph</a:t>
            </a:r>
          </a:p>
          <a:p>
            <a:pPr>
              <a:defRPr sz="1550">
                <a:solidFill>
                  <a:srgbClr val="334155"/>
                </a:solidFill>
              </a:defRPr>
            </a:pPr>
            <a:r>
              <a:t>Interactive &amp; Personalized IT Career Roadmap Platform with Topological Prerequisite Locking and Skill Verification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14600"/>
            <a:ext cx="10728655" cy="3931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18001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E3A8A"/>
                </a:solidFill>
              </a:defRPr>
            </a:pPr>
            <a:r>
              <a:t>CAPSTONE PROJECT REPORT  •  GROUP NO. 06</a:t>
            </a:r>
          </a:p>
          <a:p>
            <a:pPr>
              <a:spcAft>
                <a:spcPts val="1400"/>
              </a:spcAft>
              <a:defRPr sz="1250" b="1">
                <a:solidFill>
                  <a:srgbClr val="0284C7"/>
                </a:solidFill>
              </a:defRPr>
            </a:pPr>
            <a:r>
              <a:t>Department of Computer Engineering / Information Technology  •  Academic Year: 2025 – 2026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1. Shinde Piyush Anil                     4. Tumma Varsha Chandraprakash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2. Surve Archit Milind                    5. Vichare Sanika Sanjay</a:t>
            </a:r>
          </a:p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</a:defRPr>
            </a:pPr>
            <a:r>
              <a:t>3. Telore Jagruti Kishore                 6. Waychal Sanyukta Amol</a:t>
            </a:r>
          </a:p>
          <a:p>
            <a:pPr>
              <a:spcAft>
                <a:spcPts val="400"/>
              </a:spcAft>
              <a:defRPr sz="1200" b="1">
                <a:solidFill>
                  <a:srgbClr val="1E3A8A"/>
                </a:solidFill>
              </a:defRPr>
            </a:pPr>
            <a:r>
              <a:t>Architecture: Vue 3 Single Page App  |  Node.js &amp; Express REST API  |  MongoDB Atlas Cloud</a:t>
            </a:r>
          </a:p>
          <a:p>
            <a:pPr>
              <a:defRPr sz="1150">
                <a:solidFill>
                  <a:srgbClr val="334155"/>
                </a:solidFill>
              </a:defRPr>
            </a:pPr>
            <a:r>
              <a:t>Key Innovations: Topological Prerequisite Gating  •  Universal Cross-Track Credit  •  Server-Graded Proof-of-Skill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Problem Statement: Challenges in Modern IT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Career Graph — Project Presentation  |  Group No. 06  |  Department of Computer Engineering /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98448"/>
            <a:ext cx="5212080" cy="2423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4754880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3A8A"/>
                </a:solidFill>
              </a:defRPr>
            </a:pPr>
            <a:r>
              <a:t>1. Premature High-Level Tool Fatigue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Students frequently dive straight into advanced frameworks (React, Docker, Kubernetes) without mastering fundamental syntax, HTTP protocols, or Linux CLI.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Leads to severe cognitive overload, tutorial dependency, and over 70% online course abandonment rates among engineering undergraduates.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98448"/>
            <a:ext cx="5212080" cy="2423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4754880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3A8A"/>
                </a:solidFill>
              </a:defRPr>
            </a:pPr>
            <a:r>
              <a:t>2. Static &amp; Non-Adaptive Visualizers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Existing community visualizers (e.g. roadmap.sh) present static, read-only SVG diagrams with zero awareness of what the learner already knows.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Cannot adapt to university academic curricula, evaluate prior student baseline competencies, or provide personalized step-by-step guidance.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212080" cy="2423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050792"/>
            <a:ext cx="4754880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3A8A"/>
                </a:solidFill>
              </a:defRPr>
            </a:pPr>
            <a:r>
              <a:t>3. Siloed, Non-Portable Skill Progress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When a student masters shared engineering skills (e.g. Git, Python, SQL) in Web Development, that progress is trapped in an isolated course silo.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Switching tracks to DevOps or AI/ML forces students to repeat identical modules from scratch, wasting dozens of hours.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86200"/>
            <a:ext cx="5212080" cy="2423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050792"/>
            <a:ext cx="4754880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3A8A"/>
                </a:solidFill>
              </a:defRPr>
            </a:pPr>
            <a:r>
              <a:t>4. Unverified 'Honor-System' Checklists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Mainstream platforms rely on self-marked checkboxes or passive video playback with zero objective evaluation.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Fails to guarantee conceptual understanding, creating a false sense of competence without employer-verifiable proof.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Proposed Solution: The Career Graph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Career Graph — Project Presentation  |  Group No. 06  |  Department of Computer Engineering /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98448"/>
            <a:ext cx="521208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1328"/>
            <a:ext cx="47548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1E3A8A"/>
                </a:solidFill>
              </a:defRPr>
            </a:pPr>
            <a:r>
              <a:t>5-Tier Curriculum Hierarchy</a:t>
            </a:r>
          </a:p>
          <a:p>
            <a:pPr>
              <a:spcAft>
                <a:spcPts val="1000"/>
              </a:spcAft>
              <a:defRPr sz="1100" b="1">
                <a:solidFill>
                  <a:srgbClr val="0284C7"/>
                </a:solidFill>
              </a:defRPr>
            </a:pPr>
            <a:r>
              <a:t>Structured Pedagogical Decomposition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Tier 1: Target Career Tracks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6 Curated industry role pathways (Full Stack, DevOps, AI/ML, Cloud, Data Science, Cyber Security).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Tier 2: Atomic Skills Catalog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Component skills linked via explicit topological mathematical prerequisite dependencies (DAG).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Tier 3: Course Syllabus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Comprehensive curriculum connected 1:1 with each roadmap skill node, maintaining clean domain boundaries.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Tier 4: Staged Progression Levels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Strict tiered progression across Beginner ➔ Intermediate ➔ Advanced modules enforcing gradual mastery.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Tier 5: Granular Interactive Lessons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Bite-sized practical study units featuring clear theory, key takeaways, and runnable code examples.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98448"/>
            <a:ext cx="521208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81328"/>
            <a:ext cx="47548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1E3A8A"/>
                </a:solidFill>
              </a:defRPr>
            </a:pPr>
            <a:r>
              <a:t>4 Core Technical Pillars</a:t>
            </a:r>
          </a:p>
          <a:p>
            <a:pPr>
              <a:spcAft>
                <a:spcPts val="1000"/>
              </a:spcAft>
              <a:defRPr sz="1100" b="1">
                <a:solidFill>
                  <a:srgbClr val="0284C7"/>
                </a:solidFill>
              </a:defRPr>
            </a:pPr>
            <a:r>
              <a:t>Platform Engineering Differentiators</a:t>
            </a:r>
          </a:p>
          <a:p>
            <a:pPr>
              <a:defRPr b="1" sz="1300">
                <a:solidFill>
                  <a:srgbClr val="1E3A8A"/>
                </a:solidFill>
              </a:defRPr>
            </a:pPr>
            <a:r>
              <a:t>✓ Topological Prerequisite Engine</a:t>
            </a:r>
          </a:p>
          <a:p>
            <a:pPr>
              <a:spcAft>
                <a:spcPts val="1000"/>
              </a:spcAft>
              <a:defRPr sz="1150">
                <a:solidFill>
                  <a:srgbClr val="334155"/>
                </a:solidFill>
              </a:defRPr>
            </a:pPr>
            <a:r>
              <a:t>   Advanced phases lock strictly until foundational skills reach 100% completion, eliminating premature tool hopping.</a:t>
            </a:r>
          </a:p>
          <a:p>
            <a:pPr>
              <a:defRPr b="1" sz="1300">
                <a:solidFill>
                  <a:srgbClr val="1E3A8A"/>
                </a:solidFill>
              </a:defRPr>
            </a:pPr>
            <a:r>
              <a:t>✓ Adaptive Onboarding Baseline</a:t>
            </a:r>
          </a:p>
          <a:p>
            <a:pPr>
              <a:spcAft>
                <a:spcPts val="1000"/>
              </a:spcAft>
              <a:defRPr sz="1150">
                <a:solidFill>
                  <a:srgbClr val="334155"/>
                </a:solidFill>
              </a:defRPr>
            </a:pPr>
            <a:r>
              <a:t>   Calibrates roadmap starting points based on student academic degree, stream, and declared baseline knowledge.</a:t>
            </a:r>
          </a:p>
          <a:p>
            <a:pPr>
              <a:defRPr b="1" sz="1300">
                <a:solidFill>
                  <a:srgbClr val="1E3A8A"/>
                </a:solidFill>
              </a:defRPr>
            </a:pPr>
            <a:r>
              <a:t>✓ Universal Cross-Track Credit</a:t>
            </a:r>
          </a:p>
          <a:p>
            <a:pPr>
              <a:spcAft>
                <a:spcPts val="1000"/>
              </a:spcAft>
              <a:defRPr sz="1150">
                <a:solidFill>
                  <a:srgbClr val="334155"/>
                </a:solidFill>
              </a:defRPr>
            </a:pPr>
            <a:r>
              <a:t>   Canonical skill IDs ensure skills mastered in one track immediately reflect across all adjacent tracks.</a:t>
            </a:r>
          </a:p>
          <a:p>
            <a:pPr>
              <a:defRPr b="1" sz="1300">
                <a:solidFill>
                  <a:srgbClr val="1E3A8A"/>
                </a:solidFill>
              </a:defRPr>
            </a:pPr>
            <a:r>
              <a:t>✓ Server-Graded Proof-of-Skill</a:t>
            </a:r>
          </a:p>
          <a:p>
            <a:pPr>
              <a:spcAft>
                <a:spcPts val="1000"/>
              </a:spcAft>
              <a:defRPr sz="1150">
                <a:solidFill>
                  <a:srgbClr val="334155"/>
                </a:solidFill>
              </a:defRPr>
            </a:pPr>
            <a:r>
              <a:t>   Tamper-proof micro-quizzes evaluate advanced phase learners and award verifiable skill badges (🛡️).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RESEARCH &amp; EXISTING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Literature Survey &amp; Comparative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Career Graph — Project Presentation  |  Group No. 06  |  Department of Computer Engineering / IT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98448"/>
          <a:ext cx="10728655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377440"/>
                <a:gridCol w="2377440"/>
                <a:gridCol w="3047695"/>
              </a:tblGrid>
              <a:tr h="711925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Feature / Capability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roadmap.sh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Traditional MOOCs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Career Graph (Proposed)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Interactive Visual Roadmap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Static SVG / Community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Linear Syllabus List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E3A8A"/>
                          </a:solidFill>
                        </a:defRPr>
                      </a:pPr>
                      <a:r>
                        <a:t>Dynamic SVG Bézier Canvas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Prerequisite Locking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None (All visible)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Course-specific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E3A8A"/>
                          </a:solidFill>
                        </a:defRPr>
                      </a:pPr>
                      <a:r>
                        <a:t>Topological Phase &amp; Node Gating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Personalized Gap Analysis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Basic quiz placement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E3A8A"/>
                          </a:solidFill>
                        </a:defRPr>
                      </a:pPr>
                      <a:r>
                        <a:t>Stream, Degree &amp; Baseline Profiling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Cross-Track Skill Credit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Not Supported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Not Supported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E3A8A"/>
                          </a:solidFill>
                        </a:defRPr>
                      </a:pPr>
                      <a:r>
                        <a:t>Universal skillId Propagation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711925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Proof-of-Skill Validation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Honor system checkmarks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Video watch completion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E3A8A"/>
                          </a:solidFill>
                        </a:defRPr>
                      </a:pPr>
                      <a:r>
                        <a:t>Server-Graded Anti-Cheat Quizzes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711930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In-Place Career Switching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Requires full reload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Separate course enrollment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E3A8A"/>
                          </a:solidFill>
                        </a:defRPr>
                      </a:pPr>
                      <a:r>
                        <a:t>Instant Modal Switch with Live State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Three-Tier Decoupled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Career Graph — Project Presentation  |  Group No. 06  |  Department of Computer Engineering /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Figure 1: Three-Tier Cloud Architecture Block Diagram</a:t>
            </a:r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394960" cy="4157584"/>
          </a:xfrm>
          <a:prstGeom prst="rect">
            <a:avLst/>
          </a:prstGeom>
          <a:ln w="15240">
            <a:solidFill>
              <a:srgbClr val="CBD5E1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6309360" y="1298448"/>
            <a:ext cx="5150815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481328"/>
            <a:ext cx="46634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1E3A8A"/>
                </a:solidFill>
              </a:defRPr>
            </a:pPr>
            <a:r>
              <a:t>Architectural Tier Decomposition</a:t>
            </a:r>
          </a:p>
          <a:p>
            <a:pPr>
              <a:spcAft>
                <a:spcPts val="1000"/>
              </a:spcAft>
              <a:defRPr sz="1100" b="1">
                <a:solidFill>
                  <a:srgbClr val="0284C7"/>
                </a:solidFill>
              </a:defRPr>
            </a:pPr>
            <a:r>
              <a:t>Decoupled Modern Cloud Web Stack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1. Presentation Tier (Frontend SPA)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   Vue 3 Composition API (&lt;script setup&gt;) &amp; Vite 5.3 bundler. Pinia centralized state stores (auth, roadmap, user). Dynamic SVG canvas computing cubic Bézier paths with pan/zoom HUD.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2. Application Tier (Backend REST API)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   Node.js 18+ runtime with Express 4.19 framework. Stateless JWT auth, bcrypt password hashing, topological DAG prerequisite engine (skillGapService.js), and atomic progress rollups.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3. Persistence Tier (Cloud Database)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   Managed MongoDB Atlas replica set cluster. 9 normalized Mongoose 8.5 schemas with compound unique indexes guaranteeing idempotent write operations.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4. Edge Hosting &amp; CI/CD Pipeline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   Frontend on Vercel Global Edge CDN with SPA rewrites (/(.*) -&gt; /). Backend auto-deployed on Render with git-triggered builds.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PERSISTENCE &amp;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Database Schema &amp; Entity-Relationship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Career Graph — Project Presentation  |  Group No. 06  |  Department of Computer Engineering /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Figure 2: Mongoose 8.5 Normalized ER Model &amp; Cardinalities</a:t>
            </a:r>
          </a:p>
        </p:txBody>
      </p:sp>
      <p:pic>
        <p:nvPicPr>
          <p:cNvPr id="7" name="Picture 6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394960" cy="4117206"/>
          </a:xfrm>
          <a:prstGeom prst="rect">
            <a:avLst/>
          </a:prstGeom>
          <a:ln w="15240">
            <a:solidFill>
              <a:srgbClr val="CBD5E1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6309360" y="1298448"/>
            <a:ext cx="5150815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481328"/>
            <a:ext cx="46634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1E3A8A"/>
                </a:solidFill>
              </a:defRPr>
            </a:pPr>
            <a:r>
              <a:t>Key Data Entities &amp; Relational Logic</a:t>
            </a:r>
          </a:p>
          <a:p>
            <a:pPr>
              <a:spcAft>
                <a:spcPts val="1000"/>
              </a:spcAft>
              <a:defRPr sz="1100" b="1">
                <a:solidFill>
                  <a:srgbClr val="0284C7"/>
                </a:solidFill>
              </a:defRPr>
            </a:pPr>
            <a:r>
              <a:t>Mongoose 8.5 Normalized Schemas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User &amp; UserProfile (1:1)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   Stores identity credentials, bcrypt password hash, academic stream/degree, and declared baseline self-ratings.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Career &amp; Skill (1:N embedded)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   Structured roadmap catalog partitioned into Foundations, Core, and Advanced phases.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Course, Level &amp; Lesson (1:1 &amp; 1:N)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   Granular syllabus mapping directly to skill nodes with Beginner, Intermediate, and Advanced tiers.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CourseProgress &amp; LessonProgress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   Compound unique indexes ({ user, course }, { user, lesson }) guaranteeing idempotent progress tracking.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SkillQuiz (1:1 with Skill)</a:t>
            </a:r>
          </a:p>
          <a:p>
            <a:pPr>
              <a:spcAft>
                <a:spcPts val="800"/>
              </a:spcAft>
              <a:defRPr sz="1150">
                <a:solidFill>
                  <a:srgbClr val="334155"/>
                </a:solidFill>
              </a:defRPr>
            </a:pPr>
            <a:r>
              <a:t>   Houses multiple-choice validation questions with server-side answer keys for proof-of-skill badging.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ALGORITHMIC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Core Logic 1: Topological Prerequisite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Career Graph — Project Presentation  |  Group No. 06  |  Department of Computer Engineering /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98448"/>
            <a:ext cx="3383280" cy="3429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1328"/>
            <a:ext cx="29260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Phase 1: Foundations</a:t>
            </a:r>
          </a:p>
          <a:p>
            <a:pPr>
              <a:spcAft>
                <a:spcPts val="800"/>
              </a:spcAft>
              <a:defRPr sz="1000" b="1">
                <a:solidFill>
                  <a:srgbClr val="0284C7"/>
                </a:solidFill>
              </a:defRPr>
            </a:pPr>
            <a:r>
              <a:t>ESSENTIAL PREREQUISITES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Unconditionally UNLOCKED upon enrollment.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Core tools: HTML, CSS, JavaScript, Git (Full Stack); Linux, Git, Networking (DevOps).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Establishes vital syntax and engineering baseline before any framework usage.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7" y="1298448"/>
            <a:ext cx="3383280" cy="3429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7" y="1481328"/>
            <a:ext cx="29260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Phase 2: Core Stack</a:t>
            </a:r>
          </a:p>
          <a:p>
            <a:pPr>
              <a:spcAft>
                <a:spcPts val="800"/>
              </a:spcAft>
              <a:defRPr sz="1000" b="1">
                <a:solidFill>
                  <a:srgbClr val="0284C7"/>
                </a:solidFill>
              </a:defRPr>
            </a:pPr>
            <a:r>
              <a:t>MAIN DEVELOPMENT TOOLS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STRICTLY LOCKED until all Phase 1 skills reach 100% completion.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Frameworks: Vue.js, Node.js, Express, MongoDB.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Prevents students from jumping into backend APIs and full-stack frameworks prematurely.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298448"/>
            <a:ext cx="3383280" cy="3429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1896" y="1481328"/>
            <a:ext cx="29260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Phase 3: Advanced</a:t>
            </a:r>
          </a:p>
          <a:p>
            <a:pPr>
              <a:spcAft>
                <a:spcPts val="800"/>
              </a:spcAft>
              <a:defRPr sz="1000" b="1">
                <a:solidFill>
                  <a:srgbClr val="0284C7"/>
                </a:solidFill>
              </a:defRPr>
            </a:pPr>
            <a:r>
              <a:t>PRODUCTION &amp; CLOUD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STRICTLY LOCKED until all Phase 2 skills are verified or completed.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Tools: Docker, AWS Cloud, Kubernetes, CI/CD.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Ensures code literacy and API proficiency prior to containerized deployments.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92040"/>
            <a:ext cx="10728655" cy="1371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029200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400">
                <a:solidFill>
                  <a:srgbClr val="1E3A8A"/>
                </a:solidFill>
              </a:defRPr>
            </a:pPr>
            <a:r>
              <a:t>Node-Level Dependency Checking &amp; Dynamic Next-Skill Recommendation: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Beyond macro phases, individual nodes verify specific prerequisite ObjectIds (e.g. JavaScript requires HTML &amp; CSS). The engine performs topological sort traversal to dynamically highlight the next recommended skill on the roadmap canvas.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VALIDATION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Core Logic 2: Proof-of-Skill Validation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Career Graph — Project Presentation  |  Group No. 06  |  Department of Computer Engineering /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98448"/>
            <a:ext cx="3383280" cy="3429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1328"/>
            <a:ext cx="29260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Step 1: Advanced Phase Gating</a:t>
            </a:r>
          </a:p>
          <a:p>
            <a:pPr>
              <a:spcAft>
                <a:spcPts val="800"/>
              </a:spcAft>
              <a:defRPr sz="1000" b="1">
                <a:solidFill>
                  <a:srgbClr val="0284C7"/>
                </a:solidFill>
              </a:defRPr>
            </a:pPr>
            <a:r>
              <a:t>Prerequisite Enforcement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Micro-quiz is locked on day one.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 student MUST reach the Advanced level (by completing all Beginner and Intermediate lessons, or holding a baseline rating &gt;= 3).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Prevents blind guessing and ensures sufficient study preparation.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7" y="1298448"/>
            <a:ext cx="3383280" cy="3429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7" y="1481328"/>
            <a:ext cx="29260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Step 2: Anti-Cheating Sanitization</a:t>
            </a:r>
          </a:p>
          <a:p>
            <a:pPr>
              <a:spcAft>
                <a:spcPts val="800"/>
              </a:spcAft>
              <a:defRPr sz="1000" b="1">
                <a:solidFill>
                  <a:srgbClr val="0284C7"/>
                </a:solidFill>
              </a:defRPr>
            </a:pPr>
            <a:r>
              <a:t>Secure Client Payloads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When quiz questions are fetched by the browser, the backend explicitly strips correctIndex and explanation fields.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Students cannot extract answer keys via browser DevTools, Network inspect, or local storage inspection.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298448"/>
            <a:ext cx="3383280" cy="3429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1896" y="1481328"/>
            <a:ext cx="29260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Step 3: Server-Side Grading</a:t>
            </a:r>
          </a:p>
          <a:p>
            <a:pPr>
              <a:spcAft>
                <a:spcPts val="800"/>
              </a:spcAft>
              <a:defRPr sz="1000" b="1">
                <a:solidFill>
                  <a:srgbClr val="0284C7"/>
                </a:solidFill>
              </a:defRPr>
            </a:pPr>
            <a:r>
              <a:t>Objective Verification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Answers are submitted and evaluated securely on the backend API.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Passing criteria: At least 2 out of 3 correct answers (&gt;= 66.7%).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Passing instantly awards the Verified Badge (🛡️) and sets 100% course completion.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92040"/>
            <a:ext cx="10728655" cy="13716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029200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400">
                <a:solidFill>
                  <a:srgbClr val="166534"/>
                </a:solidFill>
              </a:defRPr>
            </a:pPr>
            <a:r>
              <a:t>Tamper-Proof Credentialing &amp; Automated Progress Rollup: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Passing the quiz automatically elevates the user's skill rating to Level 4 (Expert), issues the Verified Badge on the roadmap, and atomically marks all lessons in the course curriculum as completed in a single database transaction.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CORE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Universal Cross-Track Skill Propagation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Career Graph — Project Presentation  |  Group No. 06  |  Department of Computer Engineering /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98448"/>
            <a:ext cx="5212080" cy="3429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1328"/>
            <a:ext cx="47548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600">
                <a:solidFill>
                  <a:srgbClr val="1E3A8A"/>
                </a:solidFill>
              </a:defRPr>
            </a:pPr>
            <a:r>
              <a:t>Scenario: Learning in Track A (Full Stack)</a:t>
            </a:r>
          </a:p>
          <a:p>
            <a:pPr>
              <a:spcAft>
                <a:spcPts val="800"/>
              </a:spcAft>
              <a:defRPr sz="1050" b="1">
                <a:solidFill>
                  <a:srgbClr val="0284C7"/>
                </a:solidFill>
              </a:defRPr>
            </a:pPr>
            <a:r>
              <a:t>Initial Skill Acquisition</a:t>
            </a:r>
          </a:p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1. Student enrolls in Full Stack Developer track.</a:t>
            </a:r>
          </a:p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2. Completes foundational competencies: Git (100%) and Python (100%).</a:t>
            </a:r>
          </a:p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3. Takes the Proof-of-Skill validation quiz and earns the Verified Badge.</a:t>
            </a:r>
          </a:p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4. Progress is stored under canonical universal identifiers ('skill-git', 'skill-python').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98448"/>
            <a:ext cx="5212080" cy="34290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81328"/>
            <a:ext cx="475488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600">
                <a:solidFill>
                  <a:srgbClr val="166534"/>
                </a:solidFill>
              </a:defRPr>
            </a:pPr>
            <a:r>
              <a:t>Outcome: Switching to Track B (DevOps / AI)</a:t>
            </a:r>
          </a:p>
          <a:p>
            <a:pPr>
              <a:spcAft>
                <a:spcPts val="800"/>
              </a:spcAft>
              <a:defRPr sz="1050" b="1">
                <a:solidFill>
                  <a:srgbClr val="166534"/>
                </a:solidFill>
              </a:defRPr>
            </a:pPr>
            <a:r>
              <a:t>Instant Automatic Recognition</a:t>
            </a:r>
          </a:p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1. Student switches career track to DevOps Engineer or AI/ML Engineer.</a:t>
            </a:r>
          </a:p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2. The graph engine evaluates universal skill keys across collections.</a:t>
            </a:r>
          </a:p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3. Git &amp; Python are IMMEDIATELY recognized as 100% complete and verified!</a:t>
            </a:r>
          </a:p>
          <a:p>
            <a:pPr>
              <a:spcAft>
                <a:spcPts val="400"/>
              </a:spcAft>
              <a:defRPr sz="1250">
                <a:solidFill>
                  <a:srgbClr val="0F172A"/>
                </a:solidFill>
              </a:defRPr>
            </a:pPr>
            <a:r>
              <a:t>4. Student skips redundant modules and focuses purely on new domain skills.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8655" cy="1371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29200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400">
                <a:solidFill>
                  <a:srgbClr val="1E3A8A"/>
                </a:solidFill>
              </a:defRPr>
            </a:pPr>
            <a:r>
              <a:t>Why Universal Skill Propagation Matters for Engineering: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In conventional learning platforms, student achievements are trapped inside single-course silos. In Career Graph, student progress is centered around the developer, not isolated courses. Foundational skills are portable across any engineering career pathway.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USER EXPERIENCE &amp;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Interactive UI Features &amp; Canvas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Career Graph — Project Presentation  |  Group No. 06  |  Department of Computer Engineering /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98448"/>
            <a:ext cx="5212080" cy="2423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4754880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3A8A"/>
                </a:solidFill>
              </a:defRPr>
            </a:pPr>
            <a:r>
              <a:t>1. Dynamic SVG Bézier Canvas Engine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Organizes skills into 3 responsive phase columns with real-time cubic Bézier curves and directional dependency arrows.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Features smooth viewport pan/drag and a 50%–150% zoom control HUD with auto-reset.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98448"/>
            <a:ext cx="5212080" cy="2423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4754880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3A8A"/>
                </a:solidFill>
              </a:defRPr>
            </a:pPr>
            <a:r>
              <a:t>2. 1-Click Interactive Status Toggling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Learners click directly on status badges to cycle from 'Not Started' ➔ 'In Progress' ➔ 'Completed' in 1 second.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Right-click context menu enables direct jumps to any status, instantly updating atomic database rollups.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212080" cy="2423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050792"/>
            <a:ext cx="4754880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3A8A"/>
                </a:solidFill>
              </a:defRPr>
            </a:pPr>
            <a:r>
              <a:t>3. Slide-Out Topic Preview Drawer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Non-disruptive drawer slides out directly within the roadmap view without losing canvas state or context.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Provides 'Why It Matters' summaries, official documentation links, video tutorials, and interactive lesson checklists.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86200"/>
            <a:ext cx="5212080" cy="2423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050792"/>
            <a:ext cx="4754880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3A8A"/>
                </a:solidFill>
              </a:defRPr>
            </a:pPr>
            <a:r>
              <a:t>4. Instant Career Switcher Modal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Instant switching across 6 target career tracks with real-time stream (CS, IT, AI/DS) and degree (B.Tech, BCA, B.Sc) filtering.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Updates the visual roadmap canvas in place while preserving all mastered competencies.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CRITICAL EVALUATION &amp;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System Advantages &amp; Technical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Career Graph — Project Presentation  |  Group No. 06  |  Department of Computer Engineering /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98448"/>
            <a:ext cx="521208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1328"/>
            <a:ext cx="47548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1E3A8A"/>
                </a:solidFill>
              </a:defRPr>
            </a:pPr>
            <a:r>
              <a:t>Advantages &amp; Key Strengths</a:t>
            </a:r>
          </a:p>
          <a:p>
            <a:pPr>
              <a:spcAft>
                <a:spcPts val="1000"/>
              </a:spcAft>
              <a:defRPr sz="1100" b="1">
                <a:solidFill>
                  <a:srgbClr val="0284C7"/>
                </a:solidFill>
              </a:defRPr>
            </a:pPr>
            <a:r>
              <a:t>Architectural &amp; Pedagogical Superiority</a:t>
            </a:r>
          </a:p>
          <a:p>
            <a:pPr>
              <a:defRPr b="1" sz="1300">
                <a:solidFill>
                  <a:srgbClr val="1E3A8A"/>
                </a:solidFill>
              </a:defRPr>
            </a:pPr>
            <a:r>
              <a:t>✓ Enforced Prerequisite Sequencing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Mathematical topological gating prevents students from skipping fundamental syntax to rush into advanced frameworks, directly combating course abandonment.</a:t>
            </a:r>
          </a:p>
          <a:p>
            <a:pPr>
              <a:defRPr b="1" sz="1300">
                <a:solidFill>
                  <a:srgbClr val="1E3A8A"/>
                </a:solidFill>
              </a:defRPr>
            </a:pPr>
            <a:r>
              <a:t>✓ Universal Cross-Track Mobility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Competencies mastered in one track (e.g. Git, Python, SQL) carry over immediately when switching tracks, saving dozens of hours of duplicate study.</a:t>
            </a:r>
          </a:p>
          <a:p>
            <a:pPr>
              <a:defRPr b="1" sz="1300">
                <a:solidFill>
                  <a:srgbClr val="1E3A8A"/>
                </a:solidFill>
              </a:defRPr>
            </a:pPr>
            <a:r>
              <a:t>✓ Tamper-Proof Proof-of-Skill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Server-graded micro-quizzes with client payload sanitization eliminate honor-system cheating and award credible, verifiable badges (🛡️).</a:t>
            </a:r>
          </a:p>
          <a:p>
            <a:pPr>
              <a:defRPr b="1" sz="1300">
                <a:solidFill>
                  <a:srgbClr val="1E3A8A"/>
                </a:solidFill>
              </a:defRPr>
            </a:pPr>
            <a:r>
              <a:t>✓ Non-Disruptive Dynamic Navigation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In-canvas slide-out drawers and instant status toggling maintain learner focus without continuous page reloads or context loss.</a:t>
            </a:r>
          </a:p>
          <a:p>
            <a:pPr>
              <a:defRPr b="1" sz="1300">
                <a:solidFill>
                  <a:srgbClr val="1E3A8A"/>
                </a:solidFill>
              </a:defRPr>
            </a:pPr>
            <a:r>
              <a:t>✓ Production-Ready Decoupled Stack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Modern Vue 3 SPA + Node/Express REST API delivers sub-100ms UI response times, modular maintenance, and horizontal cloud scalability.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98448"/>
            <a:ext cx="5212080" cy="498348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81328"/>
            <a:ext cx="47548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B45309"/>
                </a:solidFill>
              </a:defRPr>
            </a:pPr>
            <a:r>
              <a:t>Limitations &amp; Disadvantages</a:t>
            </a:r>
          </a:p>
          <a:p>
            <a:pPr>
              <a:spcAft>
                <a:spcPts val="1000"/>
              </a:spcAft>
              <a:defRPr sz="1100" b="1">
                <a:solidFill>
                  <a:srgbClr val="D97706"/>
                </a:solidFill>
              </a:defRPr>
            </a:pPr>
            <a:r>
              <a:t>Realistic Engineering Constraints</a:t>
            </a:r>
          </a:p>
          <a:p>
            <a:pPr>
              <a:defRPr b="1" sz="1300">
                <a:solidFill>
                  <a:srgbClr val="B45309"/>
                </a:solidFill>
              </a:defRPr>
            </a:pPr>
            <a:r>
              <a:t>• Initial Curriculum Scope</a:t>
            </a:r>
          </a:p>
          <a:p>
            <a:pPr>
              <a:spcAft>
                <a:spcPts val="700"/>
              </a:spcAft>
              <a:defRPr sz="1150">
                <a:solidFill>
                  <a:srgbClr val="0F172A"/>
                </a:solidFill>
              </a:defRPr>
            </a:pPr>
            <a:r>
              <a:t>   Currently covers 6 high-demand IT tracks (Full Stack, DevOps, AI, Cloud, Data, Cyber); emerging niche fields require ongoing administrator curation.</a:t>
            </a:r>
          </a:p>
          <a:p>
            <a:pPr>
              <a:defRPr b="1" sz="1300">
                <a:solidFill>
                  <a:srgbClr val="B45309"/>
                </a:solidFill>
              </a:defRPr>
            </a:pPr>
            <a:r>
              <a:t>• Fixed Validation Quiz Pool</a:t>
            </a:r>
          </a:p>
          <a:p>
            <a:pPr>
              <a:spcAft>
                <a:spcPts val="700"/>
              </a:spcAft>
              <a:defRPr sz="1150">
                <a:solidFill>
                  <a:srgbClr val="0F172A"/>
                </a:solidFill>
              </a:defRPr>
            </a:pPr>
            <a:r>
              <a:t>   Each skill currently draws from a curated 3-question evaluation pool; future expansion requires randomized question banks to prevent repeat memorization.</a:t>
            </a:r>
          </a:p>
          <a:p>
            <a:pPr>
              <a:defRPr b="1" sz="1300">
                <a:solidFill>
                  <a:srgbClr val="B45309"/>
                </a:solidFill>
              </a:defRPr>
            </a:pPr>
            <a:r>
              <a:t>• Active Network Dependency</a:t>
            </a:r>
          </a:p>
          <a:p>
            <a:pPr>
              <a:spcAft>
                <a:spcPts val="700"/>
              </a:spcAft>
              <a:defRPr sz="1150">
                <a:solidFill>
                  <a:srgbClr val="0F172A"/>
                </a:solidFill>
              </a:defRPr>
            </a:pPr>
            <a:r>
              <a:t>   Real-time progress synchronization and server-side quiz grading require active internet connectivity, lacking offline-first PWA caching.</a:t>
            </a:r>
          </a:p>
          <a:p>
            <a:pPr>
              <a:defRPr b="1" sz="1300">
                <a:solidFill>
                  <a:srgbClr val="B45309"/>
                </a:solidFill>
              </a:defRPr>
            </a:pPr>
            <a:r>
              <a:t>• Absence of In-Browser Code Sandbox</a:t>
            </a:r>
          </a:p>
          <a:p>
            <a:pPr>
              <a:spcAft>
                <a:spcPts val="700"/>
              </a:spcAft>
              <a:defRPr sz="1150">
                <a:solidFill>
                  <a:srgbClr val="0F172A"/>
                </a:solidFill>
              </a:defRPr>
            </a:pPr>
            <a:r>
              <a:t>   Assesses conceptual and architectural understanding through quizzes, but does not yet compile and execute student code in an isolated WebAssembly sandbox.</a:t>
            </a:r>
          </a:p>
          <a:p>
            <a:pPr>
              <a:defRPr b="1" sz="1300">
                <a:solidFill>
                  <a:srgbClr val="B45309"/>
                </a:solidFill>
              </a:defRPr>
            </a:pPr>
            <a:r>
              <a:t>• Subjective Initial Onboarding</a:t>
            </a:r>
          </a:p>
          <a:p>
            <a:pPr>
              <a:spcAft>
                <a:spcPts val="700"/>
              </a:spcAft>
              <a:defRPr sz="1150">
                <a:solidFill>
                  <a:srgbClr val="0F172A"/>
                </a:solidFill>
              </a:defRPr>
            </a:pPr>
            <a:r>
              <a:t>   Initial baseline self-ratings rely on student honesty upon sign-up until objectively validated through subsequent micro-quizzes.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DEPLOYMENT &amp;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Production Deployment &amp; Operational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Career Graph — Project Presentation  |  Group No. 06  |  Department of Computer Engineering /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98448"/>
            <a:ext cx="338328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1328"/>
            <a:ext cx="29260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Frontend: Vercel Edge</a:t>
            </a:r>
          </a:p>
          <a:p>
            <a:pPr>
              <a:spcAft>
                <a:spcPts val="1200"/>
              </a:spcAft>
              <a:defRPr sz="1000" b="1">
                <a:solidFill>
                  <a:srgbClr val="0284C7"/>
                </a:solidFill>
              </a:defRPr>
            </a:pPr>
            <a:r>
              <a:t>SINGLE PAGE APPLICATION (SPA)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Framework: Vue 3 (Composition API, &lt;script setup&gt;), Vite 5.3 bundler.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Deployment: Hosted on Vercel Global Edge CDN with automated caching.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SPA Routing: vercel.json catch-all rewrite rule (/(.*) -&gt; /) prevents 404s on browser refresh.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Environment: VITE_API_BASE_URL pointing to live Render backend 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7" y="1298448"/>
            <a:ext cx="338328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7" y="1481328"/>
            <a:ext cx="29260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Backend: Render Web Service</a:t>
            </a:r>
          </a:p>
          <a:p>
            <a:pPr>
              <a:spcAft>
                <a:spcPts val="1200"/>
              </a:spcAft>
              <a:defRPr sz="1000" b="1">
                <a:solidFill>
                  <a:srgbClr val="0284C7"/>
                </a:solidFill>
              </a:defRPr>
            </a:pPr>
            <a:r>
              <a:t>RESTFUL API &amp; GRAPH ENGINE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Runtime: Node.js 18+ &amp; Express 4.19 web framework.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Deployment: Deployed on Render Web Service with continuous integration.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Auto-Deploy: Triggers automatically on git push to the main branch.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Security: Strict CORS whitelisting, stateless JWT authorization, and Bcrypt hashing.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298448"/>
            <a:ext cx="3383280" cy="4983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1896" y="1481328"/>
            <a:ext cx="29260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Database: MongoDB Atlas</a:t>
            </a:r>
          </a:p>
          <a:p>
            <a:pPr>
              <a:spcAft>
                <a:spcPts val="1200"/>
              </a:spcAft>
              <a:defRPr sz="1000" b="1">
                <a:solidFill>
                  <a:srgbClr val="0284C7"/>
                </a:solidFill>
              </a:defRPr>
            </a:pPr>
            <a:r>
              <a:t>MANAGED CLOUD REPLICA SET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Clustering: Managed MongoDB Atlas cloud cluster with 99.99% uptime.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Schema ODM: Mongoose 8.5 with strict normalization &amp; compound unique indexes.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Idempotency: Compound uniqueness prevents duplicate progress write operations.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</a:defRPr>
            </a:pPr>
            <a:r>
              <a:t>• Reliability: Automated daily snapshots, TLS/SSL transport encryption, and connection pooling.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CONCLUSION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Conclusion &amp; Future Enhancements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15568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Career Graph — Project Presentation  |  Group No. 06  |  Department of Computer Engineering /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98448"/>
            <a:ext cx="5212080" cy="40690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1328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700">
                <a:solidFill>
                  <a:srgbClr val="1E3A8A"/>
                </a:solidFill>
              </a:defRPr>
            </a:pPr>
            <a:r>
              <a:t>Key Project Outcomes</a:t>
            </a:r>
          </a:p>
          <a:p>
            <a:pPr>
              <a:spcAft>
                <a:spcPts val="1000"/>
              </a:spcAft>
              <a:defRPr sz="1100" b="1">
                <a:solidFill>
                  <a:srgbClr val="0284C7"/>
                </a:solidFill>
              </a:defRPr>
            </a:pPr>
            <a:r>
              <a:t>Capstone Engineering Deliverables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✓ Delivered Full-Stack Platform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Deployed an interactive 5-tier roadmap platform for computer engineering and IT students.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✓ Eliminated Prerequisite Gaps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Topological gating algorithm strictly prevents premature framework skipping.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✓ Portable Developer Competency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Universal skill propagation eliminates redundant study across adjacent engineering tracks.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✓ Objective Credentialing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Server-graded validation micro-quizzes deliver credible proof-of-skill badges.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98448"/>
            <a:ext cx="5212080" cy="40690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81328"/>
            <a:ext cx="47548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700">
                <a:solidFill>
                  <a:srgbClr val="1E3A8A"/>
                </a:solidFill>
              </a:defRPr>
            </a:pPr>
            <a:r>
              <a:t>Future Roadmap Enhancements</a:t>
            </a:r>
          </a:p>
          <a:p>
            <a:pPr>
              <a:spcAft>
                <a:spcPts val="1000"/>
              </a:spcAft>
              <a:defRPr sz="1100" b="1">
                <a:solidFill>
                  <a:srgbClr val="0284C7"/>
                </a:solidFill>
              </a:defRPr>
            </a:pPr>
            <a:r>
              <a:t>Post-Capstone Vision &amp; Scale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AI-Powered Adaptive Coaching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Integrate LLM diagnostic tutoring to explain mistakes when a quiz question is failed.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In-Browser Code Playground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Embed WebAssembly-based code runners (e.g. Pyodide / Node sandbox) inside topic drawers.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Community Roadmap Builder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Allow university faculty and verified mentors to author new specialized roadmaps.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Enterprise Talent Matching</a:t>
            </a:r>
          </a:p>
          <a:p>
            <a:pPr>
              <a:spcAft>
                <a:spcPts val="700"/>
              </a:spcAft>
              <a:defRPr sz="1150">
                <a:solidFill>
                  <a:srgbClr val="334155"/>
                </a:solidFill>
              </a:defRPr>
            </a:pPr>
            <a:r>
              <a:t>   Enable tech recruiters to verify student skill credentials directly via public badge URLs.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86400"/>
            <a:ext cx="10728655" cy="868680"/>
          </a:xfrm>
          <a:prstGeom prst="roundRect">
            <a:avLst/>
          </a:prstGeom>
          <a:solidFill>
            <a:srgbClr val="1E3A8A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559552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b="1" sz="1500">
                <a:solidFill>
                  <a:srgbClr val="FFFFFF"/>
                </a:solidFill>
              </a:defRPr>
            </a:pPr>
            <a:r>
              <a:t>THANK YOU!   —   OPEN FOR QUESTIONS &amp; ANSWERS (Q&amp;A)</a:t>
            </a:r>
          </a:p>
          <a:p>
            <a:pPr algn="ctr">
              <a:defRPr sz="1150">
                <a:solidFill>
                  <a:srgbClr val="BAE6FD"/>
                </a:solidFill>
              </a:defRPr>
            </a:pPr>
            <a:r>
              <a:t>Career Graph: Interactive &amp; Personalized IT Career Roadmap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