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62895" cy="1645920"/>
          </a:xfrm>
          <a:prstGeom prst="rect">
            <a:avLst/>
          </a:prstGeom>
          <a:noFill/>
        </p:spPr>
        <p:txBody>
          <a:bodyPr wrap="square">
            <a:spAutoFit/>
          </a:bodyPr>
          <a:lstStyle/>
          <a:p>
            <a:pPr>
              <a:spcAft>
                <a:spcPts val="800"/>
              </a:spcAft>
              <a:defRPr sz="1100" b="1">
                <a:solidFill>
                  <a:srgbClr val="0284C7"/>
                </a:solidFill>
              </a:defRPr>
            </a:pPr>
            <a:r>
              <a:t>ACADEMIC CAPSTONE PROJECT REPORT PRESENTATION</a:t>
            </a:r>
          </a:p>
          <a:p>
            <a:pPr>
              <a:spcAft>
                <a:spcPts val="600"/>
              </a:spcAft>
              <a:defRPr sz="3600" b="1">
                <a:solidFill>
                  <a:srgbClr val="1E3A8A"/>
                </a:solidFill>
              </a:defRPr>
            </a:pPr>
            <a:r>
              <a:t>Career Graph</a:t>
            </a:r>
          </a:p>
          <a:p>
            <a:pPr>
              <a:defRPr sz="1400">
                <a:solidFill>
                  <a:srgbClr val="334155"/>
                </a:solidFill>
              </a:defRPr>
            </a:pPr>
            <a:r>
              <a:t>Interactive &amp; Personalized IT Career Roadmap Platform with Prerequisite Locking and Skill Verification</a:t>
            </a:r>
          </a:p>
        </p:txBody>
      </p:sp>
      <p:sp>
        <p:nvSpPr>
          <p:cNvPr id="4" name="Rounded Rectangle 3"/>
          <p:cNvSpPr/>
          <p:nvPr/>
        </p:nvSpPr>
        <p:spPr>
          <a:xfrm>
            <a:off x="914400" y="2926080"/>
            <a:ext cx="10362895" cy="31089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3108960"/>
            <a:ext cx="9784080" cy="2743200"/>
          </a:xfrm>
          <a:prstGeom prst="rect">
            <a:avLst/>
          </a:prstGeom>
          <a:noFill/>
        </p:spPr>
        <p:txBody>
          <a:bodyPr wrap="square">
            <a:spAutoFit/>
          </a:bodyPr>
          <a:lstStyle/>
          <a:p>
            <a:pPr>
              <a:spcAft>
                <a:spcPts val="1200"/>
              </a:spcAft>
              <a:defRPr sz="1200" b="1">
                <a:solidFill>
                  <a:srgbClr val="1E3A8A"/>
                </a:solidFill>
              </a:defRPr>
            </a:pPr>
            <a:r>
              <a:t>GROUP NO. 06  |  PROJECT TEAM MEMBERS</a:t>
            </a:r>
          </a:p>
          <a:p>
            <a:pPr>
              <a:spcAft>
                <a:spcPts val="600"/>
              </a:spcAft>
              <a:defRPr sz="1100">
                <a:solidFill>
                  <a:srgbClr val="0F172A"/>
                </a:solidFill>
              </a:defRPr>
            </a:pPr>
            <a:r>
              <a:t>1. Shinde Piyush Anil                      4. Tumma Varsha Chandraprakash</a:t>
            </a:r>
          </a:p>
          <a:p>
            <a:pPr>
              <a:spcAft>
                <a:spcPts val="600"/>
              </a:spcAft>
              <a:defRPr sz="1100">
                <a:solidFill>
                  <a:srgbClr val="0F172A"/>
                </a:solidFill>
              </a:defRPr>
            </a:pPr>
            <a:r>
              <a:t>2. Surve Archit Milind                     5. Vichare Sanika Sanjay</a:t>
            </a:r>
          </a:p>
          <a:p>
            <a:pPr>
              <a:spcAft>
                <a:spcPts val="1600"/>
              </a:spcAft>
              <a:defRPr sz="1100">
                <a:solidFill>
                  <a:srgbClr val="0F172A"/>
                </a:solidFill>
              </a:defRPr>
            </a:pPr>
            <a:r>
              <a:t>3. Telore Jagruti Kishore                  6. Waychal Sanyukta Amol</a:t>
            </a:r>
          </a:p>
          <a:p>
            <a:pPr>
              <a:defRPr sz="1050" b="1">
                <a:solidFill>
                  <a:srgbClr val="0284C7"/>
                </a:solidFill>
              </a:defRPr>
            </a:pPr>
            <a:r>
              <a:t>Department of Computer Engineering / IT  •  Academic Year: 2025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000" b="1">
                <a:solidFill>
                  <a:srgbClr val="0284C7"/>
                </a:solidFill>
              </a:defRPr>
            </a:pPr>
            <a:r>
              <a:t>BACKGROUND &amp; MOTIVATION</a:t>
            </a:r>
          </a:p>
        </p:txBody>
      </p:sp>
      <p:sp>
        <p:nvSpPr>
          <p:cNvPr id="3" name="TextBox 2"/>
          <p:cNvSpPr txBox="1"/>
          <p:nvPr/>
        </p:nvSpPr>
        <p:spPr>
          <a:xfrm>
            <a:off x="731520" y="640080"/>
            <a:ext cx="10515600" cy="502920"/>
          </a:xfrm>
          <a:prstGeom prst="rect">
            <a:avLst/>
          </a:prstGeom>
          <a:noFill/>
        </p:spPr>
        <p:txBody>
          <a:bodyPr wrap="square" lIns="0" tIns="0" rIns="0" bIns="0">
            <a:spAutoFit/>
          </a:bodyPr>
          <a:lstStyle/>
          <a:p>
            <a:pPr>
              <a:defRPr sz="2200" b="1">
                <a:solidFill>
                  <a:srgbClr val="1E3A8A"/>
                </a:solidFill>
              </a:defRPr>
            </a:pPr>
            <a:r>
              <a:t>Problem Statement: Challenges in Modern IT Learning</a:t>
            </a:r>
          </a:p>
        </p:txBody>
      </p:sp>
      <p:sp>
        <p:nvSpPr>
          <p:cNvPr id="4" name="Rectangle 3"/>
          <p:cNvSpPr/>
          <p:nvPr/>
        </p:nvSpPr>
        <p:spPr>
          <a:xfrm>
            <a:off x="731520" y="11887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lIns="0" tIns="0" rIns="0" bIns="0">
            <a:spAutoFit/>
          </a:bodyPr>
          <a:lstStyle/>
          <a:p>
            <a:pPr>
              <a:defRPr sz="900">
                <a:solidFill>
                  <a:srgbClr val="94A3B8"/>
                </a:solidFill>
              </a:defRPr>
            </a:pPr>
            <a:r>
              <a:t>Career Graph — Project Presentation  |  Group No. 06  |  Department of Computer Engineering / IT</a:t>
            </a:r>
          </a:p>
        </p:txBody>
      </p:sp>
      <p:sp>
        <p:nvSpPr>
          <p:cNvPr id="6" name="Rounded Rectangle 5"/>
          <p:cNvSpPr/>
          <p:nvPr/>
        </p:nvSpPr>
        <p:spPr>
          <a:xfrm>
            <a:off x="731520" y="1463040"/>
            <a:ext cx="5120640" cy="21031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45920"/>
            <a:ext cx="4663440" cy="1737360"/>
          </a:xfrm>
          <a:prstGeom prst="rect">
            <a:avLst/>
          </a:prstGeom>
          <a:noFill/>
        </p:spPr>
        <p:txBody>
          <a:bodyPr wrap="square">
            <a:spAutoFit/>
          </a:bodyPr>
          <a:lstStyle/>
          <a:p>
            <a:pPr>
              <a:spcAft>
                <a:spcPts val="600"/>
              </a:spcAft>
              <a:defRPr sz="1300" b="1">
                <a:solidFill>
                  <a:srgbClr val="1E3A8A"/>
                </a:solidFill>
              </a:defRPr>
            </a:pPr>
            <a:r>
              <a:t>1. Unstructured Learning Chaos</a:t>
            </a:r>
          </a:p>
          <a:p>
            <a:pPr>
              <a:defRPr sz="1000">
                <a:solidFill>
                  <a:srgbClr val="334155"/>
                </a:solidFill>
              </a:defRPr>
            </a:pPr>
            <a:r>
              <a:t>Students frequently jump directly into high-level tools (React, Docker, Kubernetes) without mastering fundamental prerequisites (HTML, CSS, JS event loops, Linux CLI). This leads to high abandonment rates.</a:t>
            </a:r>
          </a:p>
        </p:txBody>
      </p:sp>
      <p:sp>
        <p:nvSpPr>
          <p:cNvPr id="8" name="Rounded Rectangle 7"/>
          <p:cNvSpPr/>
          <p:nvPr/>
        </p:nvSpPr>
        <p:spPr>
          <a:xfrm>
            <a:off x="6217920" y="1463040"/>
            <a:ext cx="5120640" cy="21031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45920"/>
            <a:ext cx="4663440" cy="1737360"/>
          </a:xfrm>
          <a:prstGeom prst="rect">
            <a:avLst/>
          </a:prstGeom>
          <a:noFill/>
        </p:spPr>
        <p:txBody>
          <a:bodyPr wrap="square">
            <a:spAutoFit/>
          </a:bodyPr>
          <a:lstStyle/>
          <a:p>
            <a:pPr>
              <a:spcAft>
                <a:spcPts val="600"/>
              </a:spcAft>
              <a:defRPr sz="1300" b="1">
                <a:solidFill>
                  <a:srgbClr val="1E3A8A"/>
                </a:solidFill>
              </a:defRPr>
            </a:pPr>
            <a:r>
              <a:t>2. Static, Read-Only Roadmaps</a:t>
            </a:r>
          </a:p>
          <a:p>
            <a:pPr>
              <a:defRPr sz="1000">
                <a:solidFill>
                  <a:srgbClr val="334155"/>
                </a:solidFill>
              </a:defRPr>
            </a:pPr>
            <a:r>
              <a:t>Platforms like roadmap.sh offer static reference diagrams. They cannot assess what a learner already knows, adapt dynamically, or provide real-time progress tracking.</a:t>
            </a:r>
          </a:p>
        </p:txBody>
      </p:sp>
      <p:sp>
        <p:nvSpPr>
          <p:cNvPr id="10" name="Rounded Rectangle 9"/>
          <p:cNvSpPr/>
          <p:nvPr/>
        </p:nvSpPr>
        <p:spPr>
          <a:xfrm>
            <a:off x="731520" y="3840480"/>
            <a:ext cx="5120640" cy="21031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023360"/>
            <a:ext cx="4663440" cy="1737360"/>
          </a:xfrm>
          <a:prstGeom prst="rect">
            <a:avLst/>
          </a:prstGeom>
          <a:noFill/>
        </p:spPr>
        <p:txBody>
          <a:bodyPr wrap="square">
            <a:spAutoFit/>
          </a:bodyPr>
          <a:lstStyle/>
          <a:p>
            <a:pPr>
              <a:spcAft>
                <a:spcPts val="600"/>
              </a:spcAft>
              <a:defRPr sz="1300" b="1">
                <a:solidFill>
                  <a:srgbClr val="1E3A8A"/>
                </a:solidFill>
              </a:defRPr>
            </a:pPr>
            <a:r>
              <a:t>3. Siloed, Non-Transferable Progress</a:t>
            </a:r>
          </a:p>
          <a:p>
            <a:pPr>
              <a:defRPr sz="1000">
                <a:solidFill>
                  <a:srgbClr val="334155"/>
                </a:solidFill>
              </a:defRPr>
            </a:pPr>
            <a:r>
              <a:t>When a student masters a core skill (e.g. Python or SQL) in a web development roadmap, that progress is lost if they switch to an adjacent track such as Data Analysis or DevOps.</a:t>
            </a:r>
          </a:p>
        </p:txBody>
      </p:sp>
      <p:sp>
        <p:nvSpPr>
          <p:cNvPr id="12" name="Rounded Rectangle 11"/>
          <p:cNvSpPr/>
          <p:nvPr/>
        </p:nvSpPr>
        <p:spPr>
          <a:xfrm>
            <a:off x="6217920" y="3840480"/>
            <a:ext cx="5120640" cy="21031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4023360"/>
            <a:ext cx="4663440" cy="1737360"/>
          </a:xfrm>
          <a:prstGeom prst="rect">
            <a:avLst/>
          </a:prstGeom>
          <a:noFill/>
        </p:spPr>
        <p:txBody>
          <a:bodyPr wrap="square">
            <a:spAutoFit/>
          </a:bodyPr>
          <a:lstStyle/>
          <a:p>
            <a:pPr>
              <a:spcAft>
                <a:spcPts val="600"/>
              </a:spcAft>
              <a:defRPr sz="1300" b="1">
                <a:solidFill>
                  <a:srgbClr val="1E3A8A"/>
                </a:solidFill>
              </a:defRPr>
            </a:pPr>
            <a:r>
              <a:t>4. Lack of Credible Verification</a:t>
            </a:r>
          </a:p>
          <a:p>
            <a:pPr>
              <a:defRPr sz="1000">
                <a:solidFill>
                  <a:srgbClr val="334155"/>
                </a:solidFill>
              </a:defRPr>
            </a:pPr>
            <a:r>
              <a:t>Most platforms rely on unchecked honor-system checkmarks. There is no automated evaluation to confirm whether a student has genuinely understood the underlying concepts.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000" b="1">
                <a:solidFill>
                  <a:srgbClr val="0284C7"/>
                </a:solidFill>
              </a:defRPr>
            </a:pPr>
            <a:r>
              <a:t>SYSTEM OVERVIEW</a:t>
            </a:r>
          </a:p>
        </p:txBody>
      </p:sp>
      <p:sp>
        <p:nvSpPr>
          <p:cNvPr id="3" name="TextBox 2"/>
          <p:cNvSpPr txBox="1"/>
          <p:nvPr/>
        </p:nvSpPr>
        <p:spPr>
          <a:xfrm>
            <a:off x="731520" y="640080"/>
            <a:ext cx="10515600" cy="502920"/>
          </a:xfrm>
          <a:prstGeom prst="rect">
            <a:avLst/>
          </a:prstGeom>
          <a:noFill/>
        </p:spPr>
        <p:txBody>
          <a:bodyPr wrap="square" lIns="0" tIns="0" rIns="0" bIns="0">
            <a:spAutoFit/>
          </a:bodyPr>
          <a:lstStyle/>
          <a:p>
            <a:pPr>
              <a:defRPr sz="2200" b="1">
                <a:solidFill>
                  <a:srgbClr val="1E3A8A"/>
                </a:solidFill>
              </a:defRPr>
            </a:pPr>
            <a:r>
              <a:t>Proposed Solution: The Career Graph Platform</a:t>
            </a:r>
          </a:p>
        </p:txBody>
      </p:sp>
      <p:sp>
        <p:nvSpPr>
          <p:cNvPr id="4" name="Rectangle 3"/>
          <p:cNvSpPr/>
          <p:nvPr/>
        </p:nvSpPr>
        <p:spPr>
          <a:xfrm>
            <a:off x="731520" y="11887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lIns="0" tIns="0" rIns="0" bIns="0">
            <a:spAutoFit/>
          </a:bodyPr>
          <a:lstStyle/>
          <a:p>
            <a:pPr>
              <a:defRPr sz="900">
                <a:solidFill>
                  <a:srgbClr val="94A3B8"/>
                </a:solidFill>
              </a:defRPr>
            </a:pPr>
            <a:r>
              <a:t>Career Graph — Project Presentation  |  Group No. 06  |  Department of Computer Engineering / IT</a:t>
            </a:r>
          </a:p>
        </p:txBody>
      </p:sp>
      <p:sp>
        <p:nvSpPr>
          <p:cNvPr id="6" name="Rounded Rectangle 5"/>
          <p:cNvSpPr/>
          <p:nvPr/>
        </p:nvSpPr>
        <p:spPr>
          <a:xfrm>
            <a:off x="731520" y="1463040"/>
            <a:ext cx="5120640" cy="44805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91640"/>
            <a:ext cx="4663440" cy="4023360"/>
          </a:xfrm>
          <a:prstGeom prst="rect">
            <a:avLst/>
          </a:prstGeom>
          <a:noFill/>
        </p:spPr>
        <p:txBody>
          <a:bodyPr wrap="square">
            <a:spAutoFit/>
          </a:bodyPr>
          <a:lstStyle/>
          <a:p>
            <a:pPr>
              <a:spcAft>
                <a:spcPts val="800"/>
              </a:spcAft>
              <a:defRPr sz="1400" b="1">
                <a:solidFill>
                  <a:srgbClr val="1E3A8A"/>
                </a:solidFill>
              </a:defRPr>
            </a:pPr>
            <a:r>
              <a:t>5-Tier Curriculum Hierarchy</a:t>
            </a:r>
          </a:p>
          <a:p>
            <a:pPr>
              <a:spcAft>
                <a:spcPts val="400"/>
              </a:spcAft>
              <a:defRPr sz="1000">
                <a:solidFill>
                  <a:srgbClr val="0F172A"/>
                </a:solidFill>
              </a:defRPr>
            </a:pPr>
            <a:r>
              <a:t>• Tier 1: Career Track: Target industry role (Full Stack, DevOps, AI/ML).</a:t>
            </a:r>
          </a:p>
          <a:p>
            <a:pPr>
              <a:spcAft>
                <a:spcPts val="400"/>
              </a:spcAft>
              <a:defRPr sz="1000">
                <a:solidFill>
                  <a:srgbClr val="0F172A"/>
                </a:solidFill>
              </a:defRPr>
            </a:pPr>
            <a:r>
              <a:t>• Tier 2: Skills Catalog: Atomic competencies with prerequisites (e.g. Git, Docker).</a:t>
            </a:r>
          </a:p>
          <a:p>
            <a:pPr>
              <a:spcAft>
                <a:spcPts val="400"/>
              </a:spcAft>
              <a:defRPr sz="1000">
                <a:solidFill>
                  <a:srgbClr val="0F172A"/>
                </a:solidFill>
              </a:defRPr>
            </a:pPr>
            <a:r>
              <a:t>• Tier 3: Course Syllabus: Structured curriculum connected 1:1 with each skill.</a:t>
            </a:r>
          </a:p>
          <a:p>
            <a:pPr>
              <a:spcAft>
                <a:spcPts val="400"/>
              </a:spcAft>
              <a:defRPr sz="1000">
                <a:solidFill>
                  <a:srgbClr val="0F172A"/>
                </a:solidFill>
              </a:defRPr>
            </a:pPr>
            <a:r>
              <a:t>• Tier 4: Modules &amp; Levels: Progressive levels: Beginner, Intermediate, Advanced.</a:t>
            </a:r>
          </a:p>
          <a:p>
            <a:pPr>
              <a:spcAft>
                <a:spcPts val="400"/>
              </a:spcAft>
              <a:defRPr sz="1000">
                <a:solidFill>
                  <a:srgbClr val="0F172A"/>
                </a:solidFill>
              </a:defRPr>
            </a:pPr>
            <a:r>
              <a:t>• Tier 5: Atomic Lessons: Granular lessons with explanations &amp; runnable code.</a:t>
            </a:r>
          </a:p>
        </p:txBody>
      </p:sp>
      <p:sp>
        <p:nvSpPr>
          <p:cNvPr id="8" name="Rounded Rectangle 7"/>
          <p:cNvSpPr/>
          <p:nvPr/>
        </p:nvSpPr>
        <p:spPr>
          <a:xfrm>
            <a:off x="6217920" y="1463040"/>
            <a:ext cx="5120640" cy="44805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91640"/>
            <a:ext cx="4663440" cy="4023360"/>
          </a:xfrm>
          <a:prstGeom prst="rect">
            <a:avLst/>
          </a:prstGeom>
          <a:noFill/>
        </p:spPr>
        <p:txBody>
          <a:bodyPr wrap="square">
            <a:spAutoFit/>
          </a:bodyPr>
          <a:lstStyle/>
          <a:p>
            <a:pPr>
              <a:spcAft>
                <a:spcPts val="800"/>
              </a:spcAft>
              <a:defRPr sz="1400" b="1">
                <a:solidFill>
                  <a:srgbClr val="1E3A8A"/>
                </a:solidFill>
              </a:defRPr>
            </a:pPr>
            <a:r>
              <a:t>4 Core Technical Pillars</a:t>
            </a:r>
          </a:p>
          <a:p>
            <a:pPr>
              <a:defRPr b="1" sz="1050">
                <a:solidFill>
                  <a:srgbClr val="0284C7"/>
                </a:solidFill>
              </a:defRPr>
            </a:pPr>
            <a:r>
              <a:t>✓ Topological Prerequisite Engine: </a:t>
            </a:r>
          </a:p>
          <a:p>
            <a:pPr>
              <a:spcAft>
                <a:spcPts val="600"/>
              </a:spcAft>
              <a:defRPr sz="950">
                <a:solidFill>
                  <a:srgbClr val="334155"/>
                </a:solidFill>
              </a:defRPr>
            </a:pPr>
            <a:r>
              <a:t>   Advanced phases lock until fundamental skills are completed.</a:t>
            </a:r>
          </a:p>
          <a:p>
            <a:pPr>
              <a:defRPr b="1" sz="1050">
                <a:solidFill>
                  <a:srgbClr val="0284C7"/>
                </a:solidFill>
              </a:defRPr>
            </a:pPr>
            <a:r>
              <a:t>✓ Onboarding Baseline Evaluation: </a:t>
            </a:r>
          </a:p>
          <a:p>
            <a:pPr>
              <a:spcAft>
                <a:spcPts val="600"/>
              </a:spcAft>
              <a:defRPr sz="950">
                <a:solidFill>
                  <a:srgbClr val="334155"/>
                </a:solidFill>
              </a:defRPr>
            </a:pPr>
            <a:r>
              <a:t>   Adapts the graph to student degree, stream, and declared knowledge.</a:t>
            </a:r>
          </a:p>
          <a:p>
            <a:pPr>
              <a:defRPr b="1" sz="1050">
                <a:solidFill>
                  <a:srgbClr val="0284C7"/>
                </a:solidFill>
              </a:defRPr>
            </a:pPr>
            <a:r>
              <a:t>✓ Universal Cross-Track Credit: </a:t>
            </a:r>
          </a:p>
          <a:p>
            <a:pPr>
              <a:spcAft>
                <a:spcPts val="600"/>
              </a:spcAft>
              <a:defRPr sz="950">
                <a:solidFill>
                  <a:srgbClr val="334155"/>
                </a:solidFill>
              </a:defRPr>
            </a:pPr>
            <a:r>
              <a:t>   Skills mastered in one track automatically count in all other tracks.</a:t>
            </a:r>
          </a:p>
          <a:p>
            <a:pPr>
              <a:defRPr b="1" sz="1050">
                <a:solidFill>
                  <a:srgbClr val="0284C7"/>
                </a:solidFill>
              </a:defRPr>
            </a:pPr>
            <a:r>
              <a:t>✓ Proof-of-Skill Validation: </a:t>
            </a:r>
          </a:p>
          <a:p>
            <a:pPr>
              <a:spcAft>
                <a:spcPts val="600"/>
              </a:spcAft>
              <a:defRPr sz="950">
                <a:solidFill>
                  <a:srgbClr val="334155"/>
                </a:solidFill>
              </a:defRPr>
            </a:pPr>
            <a:r>
              <a:t>   Server-graded micro-quizzes award verifiable completion badges.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000" b="1">
                <a:solidFill>
                  <a:srgbClr val="0284C7"/>
                </a:solidFill>
              </a:defRPr>
            </a:pPr>
            <a:r>
              <a:t>RESEARCH &amp; EXISTING SYSTEMS</a:t>
            </a:r>
          </a:p>
        </p:txBody>
      </p:sp>
      <p:sp>
        <p:nvSpPr>
          <p:cNvPr id="3" name="TextBox 2"/>
          <p:cNvSpPr txBox="1"/>
          <p:nvPr/>
        </p:nvSpPr>
        <p:spPr>
          <a:xfrm>
            <a:off x="731520" y="640080"/>
            <a:ext cx="10515600" cy="502920"/>
          </a:xfrm>
          <a:prstGeom prst="rect">
            <a:avLst/>
          </a:prstGeom>
          <a:noFill/>
        </p:spPr>
        <p:txBody>
          <a:bodyPr wrap="square" lIns="0" tIns="0" rIns="0" bIns="0">
            <a:spAutoFit/>
          </a:bodyPr>
          <a:lstStyle/>
          <a:p>
            <a:pPr>
              <a:defRPr sz="2200" b="1">
                <a:solidFill>
                  <a:srgbClr val="1E3A8A"/>
                </a:solidFill>
              </a:defRPr>
            </a:pPr>
            <a:r>
              <a:t>Literature Survey &amp; Comparative Analysis</a:t>
            </a:r>
          </a:p>
        </p:txBody>
      </p:sp>
      <p:sp>
        <p:nvSpPr>
          <p:cNvPr id="4" name="Rectangle 3"/>
          <p:cNvSpPr/>
          <p:nvPr/>
        </p:nvSpPr>
        <p:spPr>
          <a:xfrm>
            <a:off x="731520" y="11887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lIns="0" tIns="0" rIns="0" bIns="0">
            <a:spAutoFit/>
          </a:bodyPr>
          <a:lstStyle/>
          <a:p>
            <a:pPr>
              <a:defRPr sz="900">
                <a:solidFill>
                  <a:srgbClr val="94A3B8"/>
                </a:solidFill>
              </a:defRPr>
            </a:pPr>
            <a:r>
              <a:t>Career Graph — Project Presentation  |  Group No. 06  |  Department of Computer Engineering / IT</a:t>
            </a:r>
          </a:p>
        </p:txBody>
      </p:sp>
      <p:graphicFrame>
        <p:nvGraphicFramePr>
          <p:cNvPr id="6" name="Table 5"/>
          <p:cNvGraphicFramePr>
            <a:graphicFrameLocks noGrp="1"/>
          </p:cNvGraphicFramePr>
          <p:nvPr/>
        </p:nvGraphicFramePr>
        <p:xfrm>
          <a:off x="731520" y="1463040"/>
          <a:ext cx="10728655" cy="4389120"/>
        </p:xfrm>
        <a:graphic>
          <a:graphicData uri="http://schemas.openxmlformats.org/drawingml/2006/table">
            <a:tbl>
              <a:tblPr firstRow="1" bandRow="1">
                <a:tableStyleId>{5C22544A-7EE6-4342-B048-85BDC9FD1C3A}</a:tableStyleId>
              </a:tblPr>
              <a:tblGrid>
                <a:gridCol w="2926080"/>
                <a:gridCol w="2377440"/>
                <a:gridCol w="2377440"/>
                <a:gridCol w="3047695"/>
              </a:tblGrid>
              <a:tr h="627017">
                <a:tc>
                  <a:txBody>
                    <a:bodyPr/>
                    <a:lstStyle/>
                    <a:p>
                      <a:pPr algn="ctr">
                        <a:defRPr b="1" sz="1100">
                          <a:solidFill>
                            <a:srgbClr val="FFFFFF"/>
                          </a:solidFill>
                        </a:defRPr>
                      </a:pPr>
                      <a:r>
                        <a:t>Feature / Capability</a:t>
                      </a:r>
                    </a:p>
                  </a:txBody>
                  <a:tcPr>
                    <a:solidFill>
                      <a:srgbClr val="1E3A8A"/>
                    </a:solidFill>
                  </a:tcPr>
                </a:tc>
                <a:tc>
                  <a:txBody>
                    <a:bodyPr/>
                    <a:lstStyle/>
                    <a:p>
                      <a:pPr algn="ctr">
                        <a:defRPr b="1" sz="1100">
                          <a:solidFill>
                            <a:srgbClr val="FFFFFF"/>
                          </a:solidFill>
                        </a:defRPr>
                      </a:pPr>
                      <a:r>
                        <a:t>roadmap.sh</a:t>
                      </a:r>
                    </a:p>
                  </a:txBody>
                  <a:tcPr>
                    <a:solidFill>
                      <a:srgbClr val="1E3A8A"/>
                    </a:solidFill>
                  </a:tcPr>
                </a:tc>
                <a:tc>
                  <a:txBody>
                    <a:bodyPr/>
                    <a:lstStyle/>
                    <a:p>
                      <a:pPr algn="ctr">
                        <a:defRPr b="1" sz="1100">
                          <a:solidFill>
                            <a:srgbClr val="FFFFFF"/>
                          </a:solidFill>
                        </a:defRPr>
                      </a:pPr>
                      <a:r>
                        <a:t>Traditional MOOCs</a:t>
                      </a:r>
                    </a:p>
                  </a:txBody>
                  <a:tcPr>
                    <a:solidFill>
                      <a:srgbClr val="1E3A8A"/>
                    </a:solidFill>
                  </a:tcPr>
                </a:tc>
                <a:tc>
                  <a:txBody>
                    <a:bodyPr/>
                    <a:lstStyle/>
                    <a:p>
                      <a:pPr algn="ctr">
                        <a:defRPr b="1" sz="1100">
                          <a:solidFill>
                            <a:srgbClr val="FFFFFF"/>
                          </a:solidFill>
                        </a:defRPr>
                      </a:pPr>
                      <a:r>
                        <a:t>Career Graph (Proposed)</a:t>
                      </a:r>
                    </a:p>
                  </a:txBody>
                  <a:tcPr>
                    <a:solidFill>
                      <a:srgbClr val="1E3A8A"/>
                    </a:solidFill>
                  </a:tcPr>
                </a:tc>
              </a:tr>
              <a:tr h="627017">
                <a:tc>
                  <a:txBody>
                    <a:bodyPr/>
                    <a:lstStyle/>
                    <a:p>
                      <a:pPr>
                        <a:defRPr sz="1000">
                          <a:solidFill>
                            <a:srgbClr val="0F172A"/>
                          </a:solidFill>
                        </a:defRPr>
                      </a:pPr>
                      <a:r>
                        <a:t>Interactive Visual Roadmap</a:t>
                      </a:r>
                    </a:p>
                  </a:txBody>
                  <a:tcPr>
                    <a:solidFill>
                      <a:srgbClr val="F8FAFC"/>
                    </a:solidFill>
                  </a:tcPr>
                </a:tc>
                <a:tc>
                  <a:txBody>
                    <a:bodyPr/>
                    <a:lstStyle/>
                    <a:p>
                      <a:pPr algn="ctr">
                        <a:defRPr sz="1000">
                          <a:solidFill>
                            <a:srgbClr val="0F172A"/>
                          </a:solidFill>
                        </a:defRPr>
                      </a:pPr>
                      <a:r>
                        <a:t>Static SVG / Community</a:t>
                      </a:r>
                    </a:p>
                  </a:txBody>
                  <a:tcPr>
                    <a:solidFill>
                      <a:srgbClr val="F8FAFC"/>
                    </a:solidFill>
                  </a:tcPr>
                </a:tc>
                <a:tc>
                  <a:txBody>
                    <a:bodyPr/>
                    <a:lstStyle/>
                    <a:p>
                      <a:pPr algn="ctr">
                        <a:defRPr sz="1000">
                          <a:solidFill>
                            <a:srgbClr val="0F172A"/>
                          </a:solidFill>
                        </a:defRPr>
                      </a:pPr>
                      <a:r>
                        <a:t>Linear Syllabus List</a:t>
                      </a:r>
                    </a:p>
                  </a:txBody>
                  <a:tcPr>
                    <a:solidFill>
                      <a:srgbClr val="F8FAFC"/>
                    </a:solidFill>
                  </a:tcPr>
                </a:tc>
                <a:tc>
                  <a:txBody>
                    <a:bodyPr/>
                    <a:lstStyle/>
                    <a:p>
                      <a:pPr algn="ctr">
                        <a:defRPr sz="1000" b="1">
                          <a:solidFill>
                            <a:srgbClr val="1E3A8A"/>
                          </a:solidFill>
                        </a:defRPr>
                      </a:pPr>
                      <a:r>
                        <a:t>Dynamic SVG Bézier Canvas</a:t>
                      </a:r>
                    </a:p>
                  </a:txBody>
                  <a:tcPr>
                    <a:solidFill>
                      <a:srgbClr val="F8FAFC"/>
                    </a:solidFill>
                  </a:tcPr>
                </a:tc>
              </a:tr>
              <a:tr h="627017">
                <a:tc>
                  <a:txBody>
                    <a:bodyPr/>
                    <a:lstStyle/>
                    <a:p>
                      <a:pPr>
                        <a:defRPr sz="1000">
                          <a:solidFill>
                            <a:srgbClr val="0F172A"/>
                          </a:solidFill>
                        </a:defRPr>
                      </a:pPr>
                      <a:r>
                        <a:t>Prerequisite Locking Engine</a:t>
                      </a:r>
                    </a:p>
                  </a:txBody>
                  <a:tcPr>
                    <a:solidFill>
                      <a:srgbClr val="FFFFFF"/>
                    </a:solidFill>
                  </a:tcPr>
                </a:tc>
                <a:tc>
                  <a:txBody>
                    <a:bodyPr/>
                    <a:lstStyle/>
                    <a:p>
                      <a:pPr algn="ctr">
                        <a:defRPr sz="1000">
                          <a:solidFill>
                            <a:srgbClr val="0F172A"/>
                          </a:solidFill>
                        </a:defRPr>
                      </a:pPr>
                      <a:r>
                        <a:t>None (All visible)</a:t>
                      </a:r>
                    </a:p>
                  </a:txBody>
                  <a:tcPr>
                    <a:solidFill>
                      <a:srgbClr val="FFFFFF"/>
                    </a:solidFill>
                  </a:tcPr>
                </a:tc>
                <a:tc>
                  <a:txBody>
                    <a:bodyPr/>
                    <a:lstStyle/>
                    <a:p>
                      <a:pPr algn="ctr">
                        <a:defRPr sz="1000">
                          <a:solidFill>
                            <a:srgbClr val="0F172A"/>
                          </a:solidFill>
                        </a:defRPr>
                      </a:pPr>
                      <a:r>
                        <a:t>Course-specific only</a:t>
                      </a:r>
                    </a:p>
                  </a:txBody>
                  <a:tcPr>
                    <a:solidFill>
                      <a:srgbClr val="FFFFFF"/>
                    </a:solidFill>
                  </a:tcPr>
                </a:tc>
                <a:tc>
                  <a:txBody>
                    <a:bodyPr/>
                    <a:lstStyle/>
                    <a:p>
                      <a:pPr algn="ctr">
                        <a:defRPr sz="1000" b="1">
                          <a:solidFill>
                            <a:srgbClr val="1E3A8A"/>
                          </a:solidFill>
                        </a:defRPr>
                      </a:pPr>
                      <a:r>
                        <a:t>Topological Phase &amp; Node Gating</a:t>
                      </a:r>
                    </a:p>
                  </a:txBody>
                  <a:tcPr>
                    <a:solidFill>
                      <a:srgbClr val="FFFFFF"/>
                    </a:solidFill>
                  </a:tcPr>
                </a:tc>
              </a:tr>
              <a:tr h="627017">
                <a:tc>
                  <a:txBody>
                    <a:bodyPr/>
                    <a:lstStyle/>
                    <a:p>
                      <a:pPr>
                        <a:defRPr sz="1000">
                          <a:solidFill>
                            <a:srgbClr val="0F172A"/>
                          </a:solidFill>
                        </a:defRPr>
                      </a:pPr>
                      <a:r>
                        <a:t>Personalized Gap Analysis</a:t>
                      </a:r>
                    </a:p>
                  </a:txBody>
                  <a:tcPr>
                    <a:solidFill>
                      <a:srgbClr val="F8FAFC"/>
                    </a:solidFill>
                  </a:tcPr>
                </a:tc>
                <a:tc>
                  <a:txBody>
                    <a:bodyPr/>
                    <a:lstStyle/>
                    <a:p>
                      <a:pPr algn="ctr">
                        <a:defRPr sz="1000">
                          <a:solidFill>
                            <a:srgbClr val="0F172A"/>
                          </a:solidFill>
                        </a:defRPr>
                      </a:pPr>
                      <a:r>
                        <a:t>None</a:t>
                      </a:r>
                    </a:p>
                  </a:txBody>
                  <a:tcPr>
                    <a:solidFill>
                      <a:srgbClr val="F8FAFC"/>
                    </a:solidFill>
                  </a:tcPr>
                </a:tc>
                <a:tc>
                  <a:txBody>
                    <a:bodyPr/>
                    <a:lstStyle/>
                    <a:p>
                      <a:pPr algn="ctr">
                        <a:defRPr sz="1000">
                          <a:solidFill>
                            <a:srgbClr val="0F172A"/>
                          </a:solidFill>
                        </a:defRPr>
                      </a:pPr>
                      <a:r>
                        <a:t>Basic quiz placement</a:t>
                      </a:r>
                    </a:p>
                  </a:txBody>
                  <a:tcPr>
                    <a:solidFill>
                      <a:srgbClr val="F8FAFC"/>
                    </a:solidFill>
                  </a:tcPr>
                </a:tc>
                <a:tc>
                  <a:txBody>
                    <a:bodyPr/>
                    <a:lstStyle/>
                    <a:p>
                      <a:pPr algn="ctr">
                        <a:defRPr sz="1000" b="1">
                          <a:solidFill>
                            <a:srgbClr val="1E3A8A"/>
                          </a:solidFill>
                        </a:defRPr>
                      </a:pPr>
                      <a:r>
                        <a:t>Onboarding + Dynamic Gap Calc</a:t>
                      </a:r>
                    </a:p>
                  </a:txBody>
                  <a:tcPr>
                    <a:solidFill>
                      <a:srgbClr val="F8FAFC"/>
                    </a:solidFill>
                  </a:tcPr>
                </a:tc>
              </a:tr>
              <a:tr h="627017">
                <a:tc>
                  <a:txBody>
                    <a:bodyPr/>
                    <a:lstStyle/>
                    <a:p>
                      <a:pPr>
                        <a:defRPr sz="1000">
                          <a:solidFill>
                            <a:srgbClr val="0F172A"/>
                          </a:solidFill>
                        </a:defRPr>
                      </a:pPr>
                      <a:r>
                        <a:t>Cross-Track Skill Credit</a:t>
                      </a:r>
                    </a:p>
                  </a:txBody>
                  <a:tcPr>
                    <a:solidFill>
                      <a:srgbClr val="FFFFFF"/>
                    </a:solidFill>
                  </a:tcPr>
                </a:tc>
                <a:tc>
                  <a:txBody>
                    <a:bodyPr/>
                    <a:lstStyle/>
                    <a:p>
                      <a:pPr algn="ctr">
                        <a:defRPr sz="1000">
                          <a:solidFill>
                            <a:srgbClr val="0F172A"/>
                          </a:solidFill>
                        </a:defRPr>
                      </a:pPr>
                      <a:r>
                        <a:t>Not Supported</a:t>
                      </a:r>
                    </a:p>
                  </a:txBody>
                  <a:tcPr>
                    <a:solidFill>
                      <a:srgbClr val="FFFFFF"/>
                    </a:solidFill>
                  </a:tcPr>
                </a:tc>
                <a:tc>
                  <a:txBody>
                    <a:bodyPr/>
                    <a:lstStyle/>
                    <a:p>
                      <a:pPr algn="ctr">
                        <a:defRPr sz="1000">
                          <a:solidFill>
                            <a:srgbClr val="0F172A"/>
                          </a:solidFill>
                        </a:defRPr>
                      </a:pPr>
                      <a:r>
                        <a:t>Not Supported</a:t>
                      </a:r>
                    </a:p>
                  </a:txBody>
                  <a:tcPr>
                    <a:solidFill>
                      <a:srgbClr val="FFFFFF"/>
                    </a:solidFill>
                  </a:tcPr>
                </a:tc>
                <a:tc>
                  <a:txBody>
                    <a:bodyPr/>
                    <a:lstStyle/>
                    <a:p>
                      <a:pPr algn="ctr">
                        <a:defRPr sz="1000" b="1">
                          <a:solidFill>
                            <a:srgbClr val="1E3A8A"/>
                          </a:solidFill>
                        </a:defRPr>
                      </a:pPr>
                      <a:r>
                        <a:t>Universal skillId Propagation</a:t>
                      </a:r>
                    </a:p>
                  </a:txBody>
                  <a:tcPr>
                    <a:solidFill>
                      <a:srgbClr val="FFFFFF"/>
                    </a:solidFill>
                  </a:tcPr>
                </a:tc>
              </a:tr>
              <a:tr h="627017">
                <a:tc>
                  <a:txBody>
                    <a:bodyPr/>
                    <a:lstStyle/>
                    <a:p>
                      <a:pPr>
                        <a:defRPr sz="1000">
                          <a:solidFill>
                            <a:srgbClr val="0F172A"/>
                          </a:solidFill>
                        </a:defRPr>
                      </a:pPr>
                      <a:r>
                        <a:t>Proof-of-Skill Validation</a:t>
                      </a:r>
                    </a:p>
                  </a:txBody>
                  <a:tcPr>
                    <a:solidFill>
                      <a:srgbClr val="F8FAFC"/>
                    </a:solidFill>
                  </a:tcPr>
                </a:tc>
                <a:tc>
                  <a:txBody>
                    <a:bodyPr/>
                    <a:lstStyle/>
                    <a:p>
                      <a:pPr algn="ctr">
                        <a:defRPr sz="1000">
                          <a:solidFill>
                            <a:srgbClr val="0F172A"/>
                          </a:solidFill>
                        </a:defRPr>
                      </a:pPr>
                      <a:r>
                        <a:t>Honor system checkmarks</a:t>
                      </a:r>
                    </a:p>
                  </a:txBody>
                  <a:tcPr>
                    <a:solidFill>
                      <a:srgbClr val="F8FAFC"/>
                    </a:solidFill>
                  </a:tcPr>
                </a:tc>
                <a:tc>
                  <a:txBody>
                    <a:bodyPr/>
                    <a:lstStyle/>
                    <a:p>
                      <a:pPr algn="ctr">
                        <a:defRPr sz="1000">
                          <a:solidFill>
                            <a:srgbClr val="0F172A"/>
                          </a:solidFill>
                        </a:defRPr>
                      </a:pPr>
                      <a:r>
                        <a:t>Video watch completion</a:t>
                      </a:r>
                    </a:p>
                  </a:txBody>
                  <a:tcPr>
                    <a:solidFill>
                      <a:srgbClr val="F8FAFC"/>
                    </a:solidFill>
                  </a:tcPr>
                </a:tc>
                <a:tc>
                  <a:txBody>
                    <a:bodyPr/>
                    <a:lstStyle/>
                    <a:p>
                      <a:pPr algn="ctr">
                        <a:defRPr sz="1000" b="1">
                          <a:solidFill>
                            <a:srgbClr val="1E3A8A"/>
                          </a:solidFill>
                        </a:defRPr>
                      </a:pPr>
                      <a:r>
                        <a:t>Server-Graded Validation Quiz</a:t>
                      </a:r>
                    </a:p>
                  </a:txBody>
                  <a:tcPr>
                    <a:solidFill>
                      <a:srgbClr val="F8FAFC"/>
                    </a:solidFill>
                  </a:tcPr>
                </a:tc>
              </a:tr>
              <a:tr h="627018">
                <a:tc>
                  <a:txBody>
                    <a:bodyPr/>
                    <a:lstStyle/>
                    <a:p>
                      <a:pPr>
                        <a:defRPr sz="1000">
                          <a:solidFill>
                            <a:srgbClr val="0F172A"/>
                          </a:solidFill>
                        </a:defRPr>
                      </a:pPr>
                      <a:r>
                        <a:t>In-Place Career Switching</a:t>
                      </a:r>
                    </a:p>
                  </a:txBody>
                  <a:tcPr>
                    <a:solidFill>
                      <a:srgbClr val="FFFFFF"/>
                    </a:solidFill>
                  </a:tcPr>
                </a:tc>
                <a:tc>
                  <a:txBody>
                    <a:bodyPr/>
                    <a:lstStyle/>
                    <a:p>
                      <a:pPr algn="ctr">
                        <a:defRPr sz="1000">
                          <a:solidFill>
                            <a:srgbClr val="0F172A"/>
                          </a:solidFill>
                        </a:defRPr>
                      </a:pPr>
                      <a:r>
                        <a:t>Requires full reload</a:t>
                      </a:r>
                    </a:p>
                  </a:txBody>
                  <a:tcPr>
                    <a:solidFill>
                      <a:srgbClr val="FFFFFF"/>
                    </a:solidFill>
                  </a:tcPr>
                </a:tc>
                <a:tc>
                  <a:txBody>
                    <a:bodyPr/>
                    <a:lstStyle/>
                    <a:p>
                      <a:pPr algn="ctr">
                        <a:defRPr sz="1000">
                          <a:solidFill>
                            <a:srgbClr val="0F172A"/>
                          </a:solidFill>
                        </a:defRPr>
                      </a:pPr>
                      <a:r>
                        <a:t>Separate course enrollment</a:t>
                      </a:r>
                    </a:p>
                  </a:txBody>
                  <a:tcPr>
                    <a:solidFill>
                      <a:srgbClr val="FFFFFF"/>
                    </a:solidFill>
                  </a:tcPr>
                </a:tc>
                <a:tc>
                  <a:txBody>
                    <a:bodyPr/>
                    <a:lstStyle/>
                    <a:p>
                      <a:pPr algn="ctr">
                        <a:defRPr sz="1000" b="1">
                          <a:solidFill>
                            <a:srgbClr val="1E3A8A"/>
                          </a:solidFill>
                        </a:defRPr>
                      </a:pPr>
                      <a:r>
                        <a:t>Instant modal switch with live update</a:t>
                      </a:r>
                    </a:p>
                  </a:txBody>
                  <a:tcP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000" b="1">
                <a:solidFill>
                  <a:srgbClr val="0284C7"/>
                </a:solidFill>
              </a:defRPr>
            </a:pPr>
            <a:r>
              <a:t>TECHNICAL ARCHITECTURE</a:t>
            </a:r>
          </a:p>
        </p:txBody>
      </p:sp>
      <p:sp>
        <p:nvSpPr>
          <p:cNvPr id="3" name="TextBox 2"/>
          <p:cNvSpPr txBox="1"/>
          <p:nvPr/>
        </p:nvSpPr>
        <p:spPr>
          <a:xfrm>
            <a:off x="731520" y="640080"/>
            <a:ext cx="10515600" cy="502920"/>
          </a:xfrm>
          <a:prstGeom prst="rect">
            <a:avLst/>
          </a:prstGeom>
          <a:noFill/>
        </p:spPr>
        <p:txBody>
          <a:bodyPr wrap="square" lIns="0" tIns="0" rIns="0" bIns="0">
            <a:spAutoFit/>
          </a:bodyPr>
          <a:lstStyle/>
          <a:p>
            <a:pPr>
              <a:defRPr sz="2200" b="1">
                <a:solidFill>
                  <a:srgbClr val="1E3A8A"/>
                </a:solidFill>
              </a:defRPr>
            </a:pPr>
            <a:r>
              <a:t>Three-Tier Decoupled System Architecture</a:t>
            </a:r>
          </a:p>
        </p:txBody>
      </p:sp>
      <p:sp>
        <p:nvSpPr>
          <p:cNvPr id="4" name="Rectangle 3"/>
          <p:cNvSpPr/>
          <p:nvPr/>
        </p:nvSpPr>
        <p:spPr>
          <a:xfrm>
            <a:off x="731520" y="11887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lIns="0" tIns="0" rIns="0" bIns="0">
            <a:spAutoFit/>
          </a:bodyPr>
          <a:lstStyle/>
          <a:p>
            <a:pPr>
              <a:defRPr sz="900">
                <a:solidFill>
                  <a:srgbClr val="94A3B8"/>
                </a:solidFill>
              </a:defRPr>
            </a:pPr>
            <a:r>
              <a:t>Career Graph — Project Presentation  |  Group No. 06  |  Department of Computer Engineering / IT</a:t>
            </a:r>
          </a:p>
        </p:txBody>
      </p:sp>
      <p:pic>
        <p:nvPicPr>
          <p:cNvPr id="6" name="Picture 5" descr="system_architecture.png"/>
          <p:cNvPicPr>
            <a:picLocks noChangeAspect="1"/>
          </p:cNvPicPr>
          <p:nvPr/>
        </p:nvPicPr>
        <p:blipFill>
          <a:blip r:embed="rId2"/>
          <a:stretch>
            <a:fillRect/>
          </a:stretch>
        </p:blipFill>
        <p:spPr>
          <a:xfrm>
            <a:off x="731520" y="1463040"/>
            <a:ext cx="5669280" cy="3378662"/>
          </a:xfrm>
          <a:prstGeom prst="rect">
            <a:avLst/>
          </a:prstGeom>
        </p:spPr>
      </p:pic>
      <p:sp>
        <p:nvSpPr>
          <p:cNvPr id="7" name="Rounded Rectangle 6"/>
          <p:cNvSpPr/>
          <p:nvPr/>
        </p:nvSpPr>
        <p:spPr>
          <a:xfrm>
            <a:off x="6675120" y="1463040"/>
            <a:ext cx="4754880" cy="44805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03720" y="1691640"/>
            <a:ext cx="4297680" cy="4023360"/>
          </a:xfrm>
          <a:prstGeom prst="rect">
            <a:avLst/>
          </a:prstGeom>
          <a:noFill/>
        </p:spPr>
        <p:txBody>
          <a:bodyPr wrap="square">
            <a:spAutoFit/>
          </a:bodyPr>
          <a:lstStyle/>
          <a:p>
            <a:pPr>
              <a:spcAft>
                <a:spcPts val="800"/>
              </a:spcAft>
              <a:defRPr sz="1400" b="1">
                <a:solidFill>
                  <a:srgbClr val="1E3A8A"/>
                </a:solidFill>
              </a:defRPr>
            </a:pPr>
            <a:r>
              <a:t>Architectural Tier Decomposition</a:t>
            </a:r>
          </a:p>
          <a:p>
            <a:pPr>
              <a:defRPr b="1" sz="1000">
                <a:solidFill>
                  <a:srgbClr val="0284C7"/>
                </a:solidFill>
              </a:defRPr>
            </a:pPr>
            <a:r>
              <a:t>• 1. Presentation Tier (Frontend): </a:t>
            </a:r>
          </a:p>
          <a:p>
            <a:pPr>
              <a:spcAft>
                <a:spcPts val="400"/>
              </a:spcAft>
              <a:defRPr sz="950">
                <a:solidFill>
                  <a:srgbClr val="334155"/>
                </a:solidFill>
              </a:defRPr>
            </a:pPr>
            <a:r>
              <a:t>  Vue 3 Composition API with Vite bundler. Pinia centralized state stores (auth, roadmap, user). Dynamic SVG canvas computing Bézier connector paths.</a:t>
            </a:r>
          </a:p>
          <a:p>
            <a:pPr>
              <a:defRPr b="1" sz="1000">
                <a:solidFill>
                  <a:srgbClr val="0284C7"/>
                </a:solidFill>
              </a:defRPr>
            </a:pPr>
            <a:r>
              <a:t>• 2. Application Tier (Backend API): </a:t>
            </a:r>
          </a:p>
          <a:p>
            <a:pPr>
              <a:spcAft>
                <a:spcPts val="400"/>
              </a:spcAft>
              <a:defRPr sz="950">
                <a:solidFill>
                  <a:srgbClr val="334155"/>
                </a:solidFill>
              </a:defRPr>
            </a:pPr>
            <a:r>
              <a:t>  Node.js 18+ runtime with Express 4.19 framework. Stateless JWT authentication, bcrypt password hashing, topological graph engine (skillGapService.js).</a:t>
            </a:r>
          </a:p>
          <a:p>
            <a:pPr>
              <a:defRPr b="1" sz="1000">
                <a:solidFill>
                  <a:srgbClr val="0284C7"/>
                </a:solidFill>
              </a:defRPr>
            </a:pPr>
            <a:r>
              <a:t>• 3. Persistence Tier (Database): </a:t>
            </a:r>
          </a:p>
          <a:p>
            <a:pPr>
              <a:spcAft>
                <a:spcPts val="400"/>
              </a:spcAft>
              <a:defRPr sz="950">
                <a:solidFill>
                  <a:srgbClr val="334155"/>
                </a:solidFill>
              </a:defRPr>
            </a:pPr>
            <a:r>
              <a:t>  MongoDB Atlas managed via Mongoose 8.5 ODM. 9 normalized collections with compound uniqueness indexes guaranteeing idempotency.</a:t>
            </a:r>
          </a:p>
          <a:p>
            <a:pPr>
              <a:defRPr b="1" sz="1000">
                <a:solidFill>
                  <a:srgbClr val="0284C7"/>
                </a:solidFill>
              </a:defRPr>
            </a:pPr>
            <a:r>
              <a:t>• Communication Protocol: </a:t>
            </a:r>
          </a:p>
          <a:p>
            <a:pPr>
              <a:spcAft>
                <a:spcPts val="400"/>
              </a:spcAft>
              <a:defRPr sz="950">
                <a:solidFill>
                  <a:srgbClr val="334155"/>
                </a:solidFill>
              </a:defRPr>
            </a:pPr>
            <a:r>
              <a:t>  Secure RESTful APIs over HTTPS with JSON payloads and Bearer token authorization.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000" b="1">
                <a:solidFill>
                  <a:srgbClr val="0284C7"/>
                </a:solidFill>
              </a:defRPr>
            </a:pPr>
            <a:r>
              <a:t>PERSISTENCE &amp; DATA MODEL</a:t>
            </a:r>
          </a:p>
        </p:txBody>
      </p:sp>
      <p:sp>
        <p:nvSpPr>
          <p:cNvPr id="3" name="TextBox 2"/>
          <p:cNvSpPr txBox="1"/>
          <p:nvPr/>
        </p:nvSpPr>
        <p:spPr>
          <a:xfrm>
            <a:off x="731520" y="640080"/>
            <a:ext cx="10515600" cy="502920"/>
          </a:xfrm>
          <a:prstGeom prst="rect">
            <a:avLst/>
          </a:prstGeom>
          <a:noFill/>
        </p:spPr>
        <p:txBody>
          <a:bodyPr wrap="square" lIns="0" tIns="0" rIns="0" bIns="0">
            <a:spAutoFit/>
          </a:bodyPr>
          <a:lstStyle/>
          <a:p>
            <a:pPr>
              <a:defRPr sz="2200" b="1">
                <a:solidFill>
                  <a:srgbClr val="1E3A8A"/>
                </a:solidFill>
              </a:defRPr>
            </a:pPr>
            <a:r>
              <a:t>Database Schema &amp; Entity-Relationship Modeling</a:t>
            </a:r>
          </a:p>
        </p:txBody>
      </p:sp>
      <p:sp>
        <p:nvSpPr>
          <p:cNvPr id="4" name="Rectangle 3"/>
          <p:cNvSpPr/>
          <p:nvPr/>
        </p:nvSpPr>
        <p:spPr>
          <a:xfrm>
            <a:off x="731520" y="11887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lIns="0" tIns="0" rIns="0" bIns="0">
            <a:spAutoFit/>
          </a:bodyPr>
          <a:lstStyle/>
          <a:p>
            <a:pPr>
              <a:defRPr sz="900">
                <a:solidFill>
                  <a:srgbClr val="94A3B8"/>
                </a:solidFill>
              </a:defRPr>
            </a:pPr>
            <a:r>
              <a:t>Career Graph — Project Presentation  |  Group No. 06  |  Department of Computer Engineering / IT</a:t>
            </a:r>
          </a:p>
        </p:txBody>
      </p:sp>
      <p:pic>
        <p:nvPicPr>
          <p:cNvPr id="6" name="Picture 5" descr="er_diagram.png"/>
          <p:cNvPicPr>
            <a:picLocks noChangeAspect="1"/>
          </p:cNvPicPr>
          <p:nvPr/>
        </p:nvPicPr>
        <p:blipFill>
          <a:blip r:embed="rId2"/>
          <a:stretch>
            <a:fillRect/>
          </a:stretch>
        </p:blipFill>
        <p:spPr>
          <a:xfrm>
            <a:off x="731520" y="1463040"/>
            <a:ext cx="5669280" cy="3848869"/>
          </a:xfrm>
          <a:prstGeom prst="rect">
            <a:avLst/>
          </a:prstGeom>
        </p:spPr>
      </p:pic>
      <p:sp>
        <p:nvSpPr>
          <p:cNvPr id="7" name="Rounded Rectangle 6"/>
          <p:cNvSpPr/>
          <p:nvPr/>
        </p:nvSpPr>
        <p:spPr>
          <a:xfrm>
            <a:off x="6675120" y="1463040"/>
            <a:ext cx="4754880" cy="44805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03720" y="1691640"/>
            <a:ext cx="4297680" cy="4023360"/>
          </a:xfrm>
          <a:prstGeom prst="rect">
            <a:avLst/>
          </a:prstGeom>
          <a:noFill/>
        </p:spPr>
        <p:txBody>
          <a:bodyPr wrap="square">
            <a:spAutoFit/>
          </a:bodyPr>
          <a:lstStyle/>
          <a:p>
            <a:pPr>
              <a:spcAft>
                <a:spcPts val="800"/>
              </a:spcAft>
              <a:defRPr sz="1400" b="1">
                <a:solidFill>
                  <a:srgbClr val="1E3A8A"/>
                </a:solidFill>
              </a:defRPr>
            </a:pPr>
            <a:r>
              <a:t>Key Data Entities &amp; Relationships</a:t>
            </a:r>
          </a:p>
          <a:p>
            <a:pPr>
              <a:defRPr b="1" sz="1000">
                <a:solidFill>
                  <a:srgbClr val="0284C7"/>
                </a:solidFill>
              </a:defRPr>
            </a:pPr>
            <a:r>
              <a:t>• User &amp; UserProfile (1:1): </a:t>
            </a:r>
          </a:p>
          <a:p>
            <a:pPr>
              <a:spcAft>
                <a:spcPts val="400"/>
              </a:spcAft>
              <a:defRPr sz="950">
                <a:solidFill>
                  <a:srgbClr val="334155"/>
                </a:solidFill>
              </a:defRPr>
            </a:pPr>
            <a:r>
              <a:t>  Stores identity, bcrypt password hash, academic stream/degree, and declared baseline ratings.</a:t>
            </a:r>
          </a:p>
          <a:p>
            <a:pPr>
              <a:defRPr b="1" sz="1000">
                <a:solidFill>
                  <a:srgbClr val="0284C7"/>
                </a:solidFill>
              </a:defRPr>
            </a:pPr>
            <a:r>
              <a:t>• Career &amp; Skill (1:N embedded): </a:t>
            </a:r>
          </a:p>
          <a:p>
            <a:pPr>
              <a:spcAft>
                <a:spcPts val="400"/>
              </a:spcAft>
              <a:defRPr sz="950">
                <a:solidFill>
                  <a:srgbClr val="334155"/>
                </a:solidFill>
              </a:defRPr>
            </a:pPr>
            <a:r>
              <a:t>  Defines career tracks with required skills categorized into Foundations, Core, and Advanced phases.</a:t>
            </a:r>
          </a:p>
          <a:p>
            <a:pPr>
              <a:defRPr b="1" sz="1000">
                <a:solidFill>
                  <a:srgbClr val="0284C7"/>
                </a:solidFill>
              </a:defRPr>
            </a:pPr>
            <a:r>
              <a:t>• Course &amp; Levels (1:1 &amp; 1:N): </a:t>
            </a:r>
          </a:p>
          <a:p>
            <a:pPr>
              <a:spcAft>
                <a:spcPts val="400"/>
              </a:spcAft>
              <a:defRPr sz="950">
                <a:solidFill>
                  <a:srgbClr val="334155"/>
                </a:solidFill>
              </a:defRPr>
            </a:pPr>
            <a:r>
              <a:t>  Course connects to Skill; divided into Beginner, Intermediate, Advanced levels with embedded modules and lessons.</a:t>
            </a:r>
          </a:p>
          <a:p>
            <a:pPr>
              <a:defRPr b="1" sz="1000">
                <a:solidFill>
                  <a:srgbClr val="0284C7"/>
                </a:solidFill>
              </a:defRPr>
            </a:pPr>
            <a:r>
              <a:t>• CourseProgress &amp; LessonProgress: </a:t>
            </a:r>
          </a:p>
          <a:p>
            <a:pPr>
              <a:spcAft>
                <a:spcPts val="400"/>
              </a:spcAft>
              <a:defRPr sz="950">
                <a:solidFill>
                  <a:srgbClr val="334155"/>
                </a:solidFill>
              </a:defRPr>
            </a:pPr>
            <a:r>
              <a:t>  Atomic completion logs with compound unique indexes ({ user: 1, course: 1 } and { user: 1, lesson: 1 }).</a:t>
            </a:r>
          </a:p>
          <a:p>
            <a:pPr>
              <a:defRPr b="1" sz="1000">
                <a:solidFill>
                  <a:srgbClr val="0284C7"/>
                </a:solidFill>
              </a:defRPr>
            </a:pPr>
            <a:r>
              <a:t>• SkillQuiz (1:1 with Skill): </a:t>
            </a:r>
          </a:p>
          <a:p>
            <a:pPr>
              <a:spcAft>
                <a:spcPts val="400"/>
              </a:spcAft>
              <a:defRPr sz="950">
                <a:solidFill>
                  <a:srgbClr val="334155"/>
                </a:solidFill>
              </a:defRPr>
            </a:pPr>
            <a:r>
              <a:t>  Contains validation multiple-choice questions with server-side answer keys.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000" b="1">
                <a:solidFill>
                  <a:srgbClr val="0284C7"/>
                </a:solidFill>
              </a:defRPr>
            </a:pPr>
            <a:r>
              <a:t>ALGORITHMIC WORKFLOW</a:t>
            </a:r>
          </a:p>
        </p:txBody>
      </p:sp>
      <p:sp>
        <p:nvSpPr>
          <p:cNvPr id="3" name="TextBox 2"/>
          <p:cNvSpPr txBox="1"/>
          <p:nvPr/>
        </p:nvSpPr>
        <p:spPr>
          <a:xfrm>
            <a:off x="731520" y="640080"/>
            <a:ext cx="10515600" cy="502920"/>
          </a:xfrm>
          <a:prstGeom prst="rect">
            <a:avLst/>
          </a:prstGeom>
          <a:noFill/>
        </p:spPr>
        <p:txBody>
          <a:bodyPr wrap="square" lIns="0" tIns="0" rIns="0" bIns="0">
            <a:spAutoFit/>
          </a:bodyPr>
          <a:lstStyle/>
          <a:p>
            <a:pPr>
              <a:defRPr sz="2200" b="1">
                <a:solidFill>
                  <a:srgbClr val="1E3A8A"/>
                </a:solidFill>
              </a:defRPr>
            </a:pPr>
            <a:r>
              <a:t>Core Logic 1: Topological Prerequisite Engine</a:t>
            </a:r>
          </a:p>
        </p:txBody>
      </p:sp>
      <p:sp>
        <p:nvSpPr>
          <p:cNvPr id="4" name="Rectangle 3"/>
          <p:cNvSpPr/>
          <p:nvPr/>
        </p:nvSpPr>
        <p:spPr>
          <a:xfrm>
            <a:off x="731520" y="11887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lIns="0" tIns="0" rIns="0" bIns="0">
            <a:spAutoFit/>
          </a:bodyPr>
          <a:lstStyle/>
          <a:p>
            <a:pPr>
              <a:defRPr sz="900">
                <a:solidFill>
                  <a:srgbClr val="94A3B8"/>
                </a:solidFill>
              </a:defRPr>
            </a:pPr>
            <a:r>
              <a:t>Career Graph — Project Presentation  |  Group No. 06  |  Department of Computer Engineering / IT</a:t>
            </a:r>
          </a:p>
        </p:txBody>
      </p:sp>
      <p:sp>
        <p:nvSpPr>
          <p:cNvPr id="6" name="Rounded Rectangle 5"/>
          <p:cNvSpPr/>
          <p:nvPr/>
        </p:nvSpPr>
        <p:spPr>
          <a:xfrm>
            <a:off x="731520" y="1463040"/>
            <a:ext cx="3328416" cy="31089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2962656" cy="2743200"/>
          </a:xfrm>
          <a:prstGeom prst="rect">
            <a:avLst/>
          </a:prstGeom>
          <a:noFill/>
        </p:spPr>
        <p:txBody>
          <a:bodyPr wrap="square">
            <a:spAutoFit/>
          </a:bodyPr>
          <a:lstStyle/>
          <a:p>
            <a:pPr>
              <a:defRPr sz="1300" b="1">
                <a:solidFill>
                  <a:srgbClr val="1E3A8A"/>
                </a:solidFill>
              </a:defRPr>
            </a:pPr>
            <a:r>
              <a:t>Phase 1: Foundations</a:t>
            </a:r>
          </a:p>
          <a:p>
            <a:pPr>
              <a:spcAft>
                <a:spcPts val="800"/>
              </a:spcAft>
              <a:defRPr sz="850" b="1">
                <a:solidFill>
                  <a:srgbClr val="0284C7"/>
                </a:solidFill>
              </a:defRPr>
            </a:pPr>
            <a:r>
              <a:t>ESSENTIAL PREREQUISITES</a:t>
            </a:r>
          </a:p>
          <a:p>
            <a:pPr>
              <a:defRPr sz="950">
                <a:solidFill>
                  <a:srgbClr val="334155"/>
                </a:solidFill>
              </a:defRPr>
            </a:pPr>
            <a:r>
              <a:t>• Unconditionally UNLOCKED by default.</a:t>
            </a:r>
            <a:br/>
            <a:r>
              <a:t>• Core tools: HTML, CSS, JavaScript, Git (for Full Stack); Linux, Git, Networking (for DevOps).</a:t>
            </a:r>
            <a:br/>
            <a:r>
              <a:t>• Establishes baseline engineering fundamentals.</a:t>
            </a:r>
          </a:p>
        </p:txBody>
      </p:sp>
      <p:sp>
        <p:nvSpPr>
          <p:cNvPr id="8" name="Rounded Rectangle 7"/>
          <p:cNvSpPr/>
          <p:nvPr/>
        </p:nvSpPr>
        <p:spPr>
          <a:xfrm>
            <a:off x="4425696" y="1463040"/>
            <a:ext cx="3328416" cy="31089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08576" y="1645920"/>
            <a:ext cx="2962656" cy="2743200"/>
          </a:xfrm>
          <a:prstGeom prst="rect">
            <a:avLst/>
          </a:prstGeom>
          <a:noFill/>
        </p:spPr>
        <p:txBody>
          <a:bodyPr wrap="square">
            <a:spAutoFit/>
          </a:bodyPr>
          <a:lstStyle/>
          <a:p>
            <a:pPr>
              <a:defRPr sz="1300" b="1">
                <a:solidFill>
                  <a:srgbClr val="1E3A8A"/>
                </a:solidFill>
              </a:defRPr>
            </a:pPr>
            <a:r>
              <a:t>Phase 2: Core Stack</a:t>
            </a:r>
          </a:p>
          <a:p>
            <a:pPr>
              <a:spcAft>
                <a:spcPts val="800"/>
              </a:spcAft>
              <a:defRPr sz="850" b="1">
                <a:solidFill>
                  <a:srgbClr val="0284C7"/>
                </a:solidFill>
              </a:defRPr>
            </a:pPr>
            <a:r>
              <a:t>MAIN DEVELOPMENT TOOLS</a:t>
            </a:r>
          </a:p>
          <a:p>
            <a:pPr>
              <a:defRPr sz="950">
                <a:solidFill>
                  <a:srgbClr val="334155"/>
                </a:solidFill>
              </a:defRPr>
            </a:pPr>
            <a:r>
              <a:t>• STRICTLY LOCKED until all Phase 1 skills are completed.</a:t>
            </a:r>
            <a:br/>
            <a:r>
              <a:t>• Tools: Vue.js, Node.js, Express, MongoDB.</a:t>
            </a:r>
            <a:br/>
            <a:r>
              <a:t>• Prevents jumping into backend/full-stack frameworks prematurely.</a:t>
            </a:r>
          </a:p>
        </p:txBody>
      </p:sp>
      <p:sp>
        <p:nvSpPr>
          <p:cNvPr id="10" name="Rounded Rectangle 9"/>
          <p:cNvSpPr/>
          <p:nvPr/>
        </p:nvSpPr>
        <p:spPr>
          <a:xfrm>
            <a:off x="8119872" y="1463040"/>
            <a:ext cx="3328416" cy="31089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2752" y="1645920"/>
            <a:ext cx="2962656" cy="2743200"/>
          </a:xfrm>
          <a:prstGeom prst="rect">
            <a:avLst/>
          </a:prstGeom>
          <a:noFill/>
        </p:spPr>
        <p:txBody>
          <a:bodyPr wrap="square">
            <a:spAutoFit/>
          </a:bodyPr>
          <a:lstStyle/>
          <a:p>
            <a:pPr>
              <a:defRPr sz="1300" b="1">
                <a:solidFill>
                  <a:srgbClr val="1E3A8A"/>
                </a:solidFill>
              </a:defRPr>
            </a:pPr>
            <a:r>
              <a:t>Phase 3: Advanced &amp; Ecosystem</a:t>
            </a:r>
          </a:p>
          <a:p>
            <a:pPr>
              <a:spcAft>
                <a:spcPts val="800"/>
              </a:spcAft>
              <a:defRPr sz="850" b="1">
                <a:solidFill>
                  <a:srgbClr val="0284C7"/>
                </a:solidFill>
              </a:defRPr>
            </a:pPr>
            <a:r>
              <a:t>PRODUCTION &amp; CLOUD ARCHITECTURE</a:t>
            </a:r>
          </a:p>
          <a:p>
            <a:pPr>
              <a:defRPr sz="950">
                <a:solidFill>
                  <a:srgbClr val="334155"/>
                </a:solidFill>
              </a:defRPr>
            </a:pPr>
            <a:r>
              <a:t>• STRICTLY LOCKED until all Phase 2 skills are completed.</a:t>
            </a:r>
            <a:br/>
            <a:r>
              <a:t>• Tools: Docker, AWS Cloud, Kubernetes, Microservices.</a:t>
            </a:r>
            <a:br/>
            <a:r>
              <a:t>• Ensures students master coding before cloud deployments.</a:t>
            </a:r>
          </a:p>
        </p:txBody>
      </p:sp>
      <p:sp>
        <p:nvSpPr>
          <p:cNvPr id="12" name="Rounded Rectangle 11"/>
          <p:cNvSpPr/>
          <p:nvPr/>
        </p:nvSpPr>
        <p:spPr>
          <a:xfrm>
            <a:off x="731520" y="4754880"/>
            <a:ext cx="10728655" cy="12801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892040"/>
            <a:ext cx="10241280" cy="1005840"/>
          </a:xfrm>
          <a:prstGeom prst="rect">
            <a:avLst/>
          </a:prstGeom>
          <a:noFill/>
        </p:spPr>
        <p:txBody>
          <a:bodyPr wrap="square">
            <a:spAutoFit/>
          </a:bodyPr>
          <a:lstStyle/>
          <a:p>
            <a:pPr>
              <a:defRPr b="1" sz="1100">
                <a:solidFill>
                  <a:srgbClr val="1E3A8A"/>
                </a:solidFill>
              </a:defRPr>
            </a:pPr>
            <a:r>
              <a:t>Node-Level Dependency Checking &amp; Next-Skill Recommendation:</a:t>
            </a:r>
          </a:p>
          <a:p>
            <a:pPr>
              <a:defRPr sz="950">
                <a:solidFill>
                  <a:srgbClr val="334155"/>
                </a:solidFill>
              </a:defRPr>
            </a:pPr>
            <a:r>
              <a:t>Even inside an unlocked phase, individual nodes verify specific prerequisite ObjectIds (e.g. JavaScript requires HTML and CSS). The engine traverses nodes in topological order to automatically flag the next 'recommended' skill for the learner.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000" b="1">
                <a:solidFill>
                  <a:srgbClr val="0284C7"/>
                </a:solidFill>
              </a:defRPr>
            </a:pPr>
            <a:r>
              <a:t>VALIDATION &amp; ASSESSMENT</a:t>
            </a:r>
          </a:p>
        </p:txBody>
      </p:sp>
      <p:sp>
        <p:nvSpPr>
          <p:cNvPr id="3" name="TextBox 2"/>
          <p:cNvSpPr txBox="1"/>
          <p:nvPr/>
        </p:nvSpPr>
        <p:spPr>
          <a:xfrm>
            <a:off x="731520" y="640080"/>
            <a:ext cx="10515600" cy="502920"/>
          </a:xfrm>
          <a:prstGeom prst="rect">
            <a:avLst/>
          </a:prstGeom>
          <a:noFill/>
        </p:spPr>
        <p:txBody>
          <a:bodyPr wrap="square" lIns="0" tIns="0" rIns="0" bIns="0">
            <a:spAutoFit/>
          </a:bodyPr>
          <a:lstStyle/>
          <a:p>
            <a:pPr>
              <a:defRPr sz="2200" b="1">
                <a:solidFill>
                  <a:srgbClr val="1E3A8A"/>
                </a:solidFill>
              </a:defRPr>
            </a:pPr>
            <a:r>
              <a:t>Core Logic 2: Proof-of-Skill Validation Engine</a:t>
            </a:r>
          </a:p>
        </p:txBody>
      </p:sp>
      <p:sp>
        <p:nvSpPr>
          <p:cNvPr id="4" name="Rectangle 3"/>
          <p:cNvSpPr/>
          <p:nvPr/>
        </p:nvSpPr>
        <p:spPr>
          <a:xfrm>
            <a:off x="731520" y="11887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lIns="0" tIns="0" rIns="0" bIns="0">
            <a:spAutoFit/>
          </a:bodyPr>
          <a:lstStyle/>
          <a:p>
            <a:pPr>
              <a:defRPr sz="900">
                <a:solidFill>
                  <a:srgbClr val="94A3B8"/>
                </a:solidFill>
              </a:defRPr>
            </a:pPr>
            <a:r>
              <a:t>Career Graph — Project Presentation  |  Group No. 06  |  Department of Computer Engineering / IT</a:t>
            </a:r>
          </a:p>
        </p:txBody>
      </p:sp>
      <p:sp>
        <p:nvSpPr>
          <p:cNvPr id="6" name="Rounded Rectangle 5"/>
          <p:cNvSpPr/>
          <p:nvPr/>
        </p:nvSpPr>
        <p:spPr>
          <a:xfrm>
            <a:off x="731520" y="1463040"/>
            <a:ext cx="3328416" cy="32918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91640"/>
            <a:ext cx="2871216" cy="2834640"/>
          </a:xfrm>
          <a:prstGeom prst="rect">
            <a:avLst/>
          </a:prstGeom>
          <a:noFill/>
        </p:spPr>
        <p:txBody>
          <a:bodyPr wrap="square">
            <a:spAutoFit/>
          </a:bodyPr>
          <a:lstStyle/>
          <a:p>
            <a:pPr>
              <a:spcAft>
                <a:spcPts val="800"/>
              </a:spcAft>
              <a:defRPr sz="1300" b="1">
                <a:solidFill>
                  <a:srgbClr val="1E3A8A"/>
                </a:solidFill>
              </a:defRPr>
            </a:pPr>
            <a:r>
              <a:t>Step 1: Advanced Phase Gating</a:t>
            </a:r>
          </a:p>
          <a:p>
            <a:pPr>
              <a:defRPr sz="1000">
                <a:solidFill>
                  <a:srgbClr val="334155"/>
                </a:solidFill>
              </a:defRPr>
            </a:pPr>
            <a:r>
              <a:t>Access to the quiz is locked on day one.</a:t>
            </a:r>
            <a:br/>
            <a:br/>
            <a:r>
              <a:t>A student MUST reach the Advanced phase (by completing all Beginner and Intermediate lessons, or having declared baseline level &gt;= 3) before the quiz unlocks.</a:t>
            </a:r>
          </a:p>
        </p:txBody>
      </p:sp>
      <p:sp>
        <p:nvSpPr>
          <p:cNvPr id="8" name="Rounded Rectangle 7"/>
          <p:cNvSpPr/>
          <p:nvPr/>
        </p:nvSpPr>
        <p:spPr>
          <a:xfrm>
            <a:off x="4425696" y="1463040"/>
            <a:ext cx="3328416" cy="32918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54296" y="1691640"/>
            <a:ext cx="2871216" cy="2834640"/>
          </a:xfrm>
          <a:prstGeom prst="rect">
            <a:avLst/>
          </a:prstGeom>
          <a:noFill/>
        </p:spPr>
        <p:txBody>
          <a:bodyPr wrap="square">
            <a:spAutoFit/>
          </a:bodyPr>
          <a:lstStyle/>
          <a:p>
            <a:pPr>
              <a:spcAft>
                <a:spcPts val="800"/>
              </a:spcAft>
              <a:defRPr sz="1300" b="1">
                <a:solidFill>
                  <a:srgbClr val="1E3A8A"/>
                </a:solidFill>
              </a:defRPr>
            </a:pPr>
            <a:r>
              <a:t>Step 2: Client Payload Sanitization</a:t>
            </a:r>
          </a:p>
          <a:p>
            <a:pPr>
              <a:defRPr sz="1000">
                <a:solidFill>
                  <a:srgbClr val="334155"/>
                </a:solidFill>
              </a:defRPr>
            </a:pPr>
            <a:r>
              <a:t>When questions are fetched by the browser, the server explicitly strips 'correctIndex' and 'explanation' fields.</a:t>
            </a:r>
            <a:br/>
            <a:br/>
            <a:r>
              <a:t>Students cannot inspect the answer keys via browser DevTools or Network tabs.</a:t>
            </a:r>
          </a:p>
        </p:txBody>
      </p:sp>
      <p:sp>
        <p:nvSpPr>
          <p:cNvPr id="10" name="Rounded Rectangle 9"/>
          <p:cNvSpPr/>
          <p:nvPr/>
        </p:nvSpPr>
        <p:spPr>
          <a:xfrm>
            <a:off x="8119872" y="1463040"/>
            <a:ext cx="3328416" cy="32918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48472" y="1691640"/>
            <a:ext cx="2871216" cy="2834640"/>
          </a:xfrm>
          <a:prstGeom prst="rect">
            <a:avLst/>
          </a:prstGeom>
          <a:noFill/>
        </p:spPr>
        <p:txBody>
          <a:bodyPr wrap="square">
            <a:spAutoFit/>
          </a:bodyPr>
          <a:lstStyle/>
          <a:p>
            <a:pPr>
              <a:spcAft>
                <a:spcPts val="800"/>
              </a:spcAft>
              <a:defRPr sz="1300" b="1">
                <a:solidFill>
                  <a:srgbClr val="1E3A8A"/>
                </a:solidFill>
              </a:defRPr>
            </a:pPr>
            <a:r>
              <a:t>Step 3: Server-Side Grading &amp; Verification</a:t>
            </a:r>
          </a:p>
          <a:p>
            <a:pPr>
              <a:defRPr sz="1000">
                <a:solidFill>
                  <a:srgbClr val="334155"/>
                </a:solidFill>
              </a:defRPr>
            </a:pPr>
            <a:r>
              <a:t>Answers are graded strictly on the backend API.</a:t>
            </a:r>
            <a:br/>
            <a:br/>
            <a:r>
              <a:t>Passing threshold: At least 2 out of 3 correct answers (&gt;= 66.7%). On pass: awards Verified Badge (🛡️) and sets 100% course completion.</a:t>
            </a:r>
          </a:p>
        </p:txBody>
      </p:sp>
      <p:sp>
        <p:nvSpPr>
          <p:cNvPr id="12" name="Rounded Rectangle 11"/>
          <p:cNvSpPr/>
          <p:nvPr/>
        </p:nvSpPr>
        <p:spPr>
          <a:xfrm>
            <a:off x="731520" y="4937760"/>
            <a:ext cx="10728655" cy="109728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5029200"/>
            <a:ext cx="10241280" cy="822960"/>
          </a:xfrm>
          <a:prstGeom prst="rect">
            <a:avLst/>
          </a:prstGeom>
          <a:noFill/>
        </p:spPr>
        <p:txBody>
          <a:bodyPr wrap="square">
            <a:spAutoFit/>
          </a:bodyPr>
          <a:lstStyle/>
          <a:p>
            <a:pPr>
              <a:defRPr b="1" sz="1100">
                <a:solidFill>
                  <a:srgbClr val="166534"/>
                </a:solidFill>
              </a:defRPr>
            </a:pPr>
            <a:r>
              <a:t>Result of Successful Verification:</a:t>
            </a:r>
          </a:p>
          <a:p>
            <a:pPr>
              <a:defRPr sz="950">
                <a:solidFill>
                  <a:srgbClr val="0F172A"/>
                </a:solidFill>
              </a:defRPr>
            </a:pPr>
            <a:r>
              <a:t>Passing the quiz automatically elevates the user's skill rating to Level 4 (Expert), issues the Verified Badge on the roadmap, and atomically marks all lessons in the course curriculum as completed.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000" b="1">
                <a:solidFill>
                  <a:srgbClr val="0284C7"/>
                </a:solidFill>
              </a:defRPr>
            </a:pPr>
            <a:r>
              <a:t>CORE INNOVATION</a:t>
            </a:r>
          </a:p>
        </p:txBody>
      </p:sp>
      <p:sp>
        <p:nvSpPr>
          <p:cNvPr id="3" name="TextBox 2"/>
          <p:cNvSpPr txBox="1"/>
          <p:nvPr/>
        </p:nvSpPr>
        <p:spPr>
          <a:xfrm>
            <a:off x="731520" y="640080"/>
            <a:ext cx="10515600" cy="502920"/>
          </a:xfrm>
          <a:prstGeom prst="rect">
            <a:avLst/>
          </a:prstGeom>
          <a:noFill/>
        </p:spPr>
        <p:txBody>
          <a:bodyPr wrap="square" lIns="0" tIns="0" rIns="0" bIns="0">
            <a:spAutoFit/>
          </a:bodyPr>
          <a:lstStyle/>
          <a:p>
            <a:pPr>
              <a:defRPr sz="2200" b="1">
                <a:solidFill>
                  <a:srgbClr val="1E3A8A"/>
                </a:solidFill>
              </a:defRPr>
            </a:pPr>
            <a:r>
              <a:t>Universal Cross-Track Skill Propagation</a:t>
            </a:r>
          </a:p>
        </p:txBody>
      </p:sp>
      <p:sp>
        <p:nvSpPr>
          <p:cNvPr id="4" name="Rectangle 3"/>
          <p:cNvSpPr/>
          <p:nvPr/>
        </p:nvSpPr>
        <p:spPr>
          <a:xfrm>
            <a:off x="731520" y="11887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lIns="0" tIns="0" rIns="0" bIns="0">
            <a:spAutoFit/>
          </a:bodyPr>
          <a:lstStyle/>
          <a:p>
            <a:pPr>
              <a:defRPr sz="900">
                <a:solidFill>
                  <a:srgbClr val="94A3B8"/>
                </a:solidFill>
              </a:defRPr>
            </a:pPr>
            <a:r>
              <a:t>Career Graph — Project Presentation  |  Group No. 06  |  Department of Computer Engineering / IT</a:t>
            </a:r>
          </a:p>
        </p:txBody>
      </p:sp>
      <p:sp>
        <p:nvSpPr>
          <p:cNvPr id="6" name="Rounded Rectangle 5"/>
          <p:cNvSpPr/>
          <p:nvPr/>
        </p:nvSpPr>
        <p:spPr>
          <a:xfrm>
            <a:off x="731520" y="1463040"/>
            <a:ext cx="5120640" cy="30175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91640"/>
            <a:ext cx="4663440" cy="2560320"/>
          </a:xfrm>
          <a:prstGeom prst="rect">
            <a:avLst/>
          </a:prstGeom>
          <a:noFill/>
        </p:spPr>
        <p:txBody>
          <a:bodyPr wrap="square">
            <a:spAutoFit/>
          </a:bodyPr>
          <a:lstStyle/>
          <a:p>
            <a:pPr>
              <a:spcAft>
                <a:spcPts val="600"/>
              </a:spcAft>
              <a:defRPr b="1" sz="1300">
                <a:solidFill>
                  <a:srgbClr val="1E3A8A"/>
                </a:solidFill>
              </a:defRPr>
            </a:pPr>
            <a:r>
              <a:t>Scenario: Student Learning in Track A</a:t>
            </a:r>
          </a:p>
          <a:p>
            <a:pPr>
              <a:defRPr sz="1000">
                <a:solidFill>
                  <a:srgbClr val="334155"/>
                </a:solidFill>
              </a:defRPr>
            </a:pPr>
            <a:r>
              <a:t>1. Student enrolls in Full Stack Developer track.</a:t>
            </a:r>
            <a:br/>
            <a:r>
              <a:t>2. Completes foundational skills: Git (100%) and Python (100%).</a:t>
            </a:r>
            <a:br/>
            <a:r>
              <a:t>3. Takes the Proof-of-Skill validation quiz and earns the Verified Badge.</a:t>
            </a:r>
            <a:br/>
            <a:r>
              <a:t>4. Progress is saved with universal identifiers ('skill-git', 'skill-python').</a:t>
            </a:r>
          </a:p>
        </p:txBody>
      </p:sp>
      <p:sp>
        <p:nvSpPr>
          <p:cNvPr id="8" name="Rounded Rectangle 7"/>
          <p:cNvSpPr/>
          <p:nvPr/>
        </p:nvSpPr>
        <p:spPr>
          <a:xfrm>
            <a:off x="6217920" y="1463040"/>
            <a:ext cx="5120640" cy="30175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91640"/>
            <a:ext cx="4663440" cy="2560320"/>
          </a:xfrm>
          <a:prstGeom prst="rect">
            <a:avLst/>
          </a:prstGeom>
          <a:noFill/>
        </p:spPr>
        <p:txBody>
          <a:bodyPr wrap="square">
            <a:spAutoFit/>
          </a:bodyPr>
          <a:lstStyle/>
          <a:p>
            <a:pPr>
              <a:spcAft>
                <a:spcPts val="600"/>
              </a:spcAft>
              <a:defRPr b="1" sz="1300">
                <a:solidFill>
                  <a:srgbClr val="166534"/>
                </a:solidFill>
              </a:defRPr>
            </a:pPr>
            <a:r>
              <a:t>Outcome: Student Switches to Track B</a:t>
            </a:r>
          </a:p>
          <a:p>
            <a:pPr>
              <a:defRPr sz="1000">
                <a:solidFill>
                  <a:srgbClr val="334155"/>
                </a:solidFill>
              </a:defRPr>
            </a:pPr>
            <a:r>
              <a:t>1. Student switches career track to DevOps Engineer or AI/ML Engineer.</a:t>
            </a:r>
            <a:br/>
            <a:r>
              <a:t>2. The system checks universal skill keys across collections.</a:t>
            </a:r>
            <a:br/>
            <a:r>
              <a:t>3. Git and Python are IMMEDIATELY recognized as 100% complete and verified!</a:t>
            </a:r>
            <a:br/>
            <a:r>
              <a:t>4. Student does not waste time re-doing completed competencies.</a:t>
            </a:r>
          </a:p>
        </p:txBody>
      </p:sp>
      <p:sp>
        <p:nvSpPr>
          <p:cNvPr id="10" name="Rounded Rectangle 9"/>
          <p:cNvSpPr/>
          <p:nvPr/>
        </p:nvSpPr>
        <p:spPr>
          <a:xfrm>
            <a:off x="731520" y="4663440"/>
            <a:ext cx="10728655" cy="137160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800600"/>
            <a:ext cx="10241280" cy="1097280"/>
          </a:xfrm>
          <a:prstGeom prst="rect">
            <a:avLst/>
          </a:prstGeom>
          <a:noFill/>
        </p:spPr>
        <p:txBody>
          <a:bodyPr wrap="square">
            <a:spAutoFit/>
          </a:bodyPr>
          <a:lstStyle/>
          <a:p>
            <a:pPr>
              <a:defRPr b="1" sz="1100">
                <a:solidFill>
                  <a:srgbClr val="1E3A8A"/>
                </a:solidFill>
              </a:defRPr>
            </a:pPr>
            <a:r>
              <a:t>Why This Solves Real-World Engineering Education:</a:t>
            </a:r>
          </a:p>
          <a:p>
            <a:pPr>
              <a:defRPr sz="950">
                <a:solidFill>
                  <a:srgbClr val="334155"/>
                </a:solidFill>
              </a:defRPr>
            </a:pPr>
            <a:r>
              <a:t>In traditional platforms, learning is siloed inside single courses. In Career Graph, student progress is modeled around the developer, not isolated silos. Foundational skills are portable across any software engineering pathway.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000" b="1">
                <a:solidFill>
                  <a:srgbClr val="0284C7"/>
                </a:solidFill>
              </a:defRPr>
            </a:pPr>
            <a:r>
              <a:t>USER EXPERIENCE &amp; FRONTEND</a:t>
            </a:r>
          </a:p>
        </p:txBody>
      </p:sp>
      <p:sp>
        <p:nvSpPr>
          <p:cNvPr id="3" name="TextBox 2"/>
          <p:cNvSpPr txBox="1"/>
          <p:nvPr/>
        </p:nvSpPr>
        <p:spPr>
          <a:xfrm>
            <a:off x="731520" y="640080"/>
            <a:ext cx="10515600" cy="502920"/>
          </a:xfrm>
          <a:prstGeom prst="rect">
            <a:avLst/>
          </a:prstGeom>
          <a:noFill/>
        </p:spPr>
        <p:txBody>
          <a:bodyPr wrap="square" lIns="0" tIns="0" rIns="0" bIns="0">
            <a:spAutoFit/>
          </a:bodyPr>
          <a:lstStyle/>
          <a:p>
            <a:pPr>
              <a:defRPr sz="2200" b="1">
                <a:solidFill>
                  <a:srgbClr val="1E3A8A"/>
                </a:solidFill>
              </a:defRPr>
            </a:pPr>
            <a:r>
              <a:t>Interactive UI Features &amp; Canvas Engine</a:t>
            </a:r>
          </a:p>
        </p:txBody>
      </p:sp>
      <p:sp>
        <p:nvSpPr>
          <p:cNvPr id="4" name="Rectangle 3"/>
          <p:cNvSpPr/>
          <p:nvPr/>
        </p:nvSpPr>
        <p:spPr>
          <a:xfrm>
            <a:off x="731520" y="11887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lIns="0" tIns="0" rIns="0" bIns="0">
            <a:spAutoFit/>
          </a:bodyPr>
          <a:lstStyle/>
          <a:p>
            <a:pPr>
              <a:defRPr sz="900">
                <a:solidFill>
                  <a:srgbClr val="94A3B8"/>
                </a:solidFill>
              </a:defRPr>
            </a:pPr>
            <a:r>
              <a:t>Career Graph — Project Presentation  |  Group No. 06  |  Department of Computer Engineering / IT</a:t>
            </a:r>
          </a:p>
        </p:txBody>
      </p:sp>
      <p:sp>
        <p:nvSpPr>
          <p:cNvPr id="6" name="Rounded Rectangle 5"/>
          <p:cNvSpPr/>
          <p:nvPr/>
        </p:nvSpPr>
        <p:spPr>
          <a:xfrm>
            <a:off x="731520" y="1463040"/>
            <a:ext cx="5120640" cy="21031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45920"/>
            <a:ext cx="4663440" cy="1737360"/>
          </a:xfrm>
          <a:prstGeom prst="rect">
            <a:avLst/>
          </a:prstGeom>
          <a:noFill/>
        </p:spPr>
        <p:txBody>
          <a:bodyPr wrap="square">
            <a:spAutoFit/>
          </a:bodyPr>
          <a:lstStyle/>
          <a:p>
            <a:pPr>
              <a:spcAft>
                <a:spcPts val="600"/>
              </a:spcAft>
              <a:defRPr sz="1250" b="1">
                <a:solidFill>
                  <a:srgbClr val="1E3A8A"/>
                </a:solidFill>
              </a:defRPr>
            </a:pPr>
            <a:r>
              <a:t>1. Dynamic SVG Bézier Canvas</a:t>
            </a:r>
          </a:p>
          <a:p>
            <a:pPr>
              <a:defRPr sz="950">
                <a:solidFill>
                  <a:srgbClr val="334155"/>
                </a:solidFill>
              </a:defRPr>
            </a:pPr>
            <a:r>
              <a:t>Organized into 3 phase columns. Calculates cubic Bézier curves connecting prerequisite nodes to dependents in real time with directional arrows. Full pan/drag and 50%–150% zoom HUD.</a:t>
            </a:r>
          </a:p>
        </p:txBody>
      </p:sp>
      <p:sp>
        <p:nvSpPr>
          <p:cNvPr id="8" name="Rounded Rectangle 7"/>
          <p:cNvSpPr/>
          <p:nvPr/>
        </p:nvSpPr>
        <p:spPr>
          <a:xfrm>
            <a:off x="6217920" y="1463040"/>
            <a:ext cx="5120640" cy="21031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45920"/>
            <a:ext cx="4663440" cy="1737360"/>
          </a:xfrm>
          <a:prstGeom prst="rect">
            <a:avLst/>
          </a:prstGeom>
          <a:noFill/>
        </p:spPr>
        <p:txBody>
          <a:bodyPr wrap="square">
            <a:spAutoFit/>
          </a:bodyPr>
          <a:lstStyle/>
          <a:p>
            <a:pPr>
              <a:spcAft>
                <a:spcPts val="600"/>
              </a:spcAft>
              <a:defRPr sz="1250" b="1">
                <a:solidFill>
                  <a:srgbClr val="1E3A8A"/>
                </a:solidFill>
              </a:defRPr>
            </a:pPr>
            <a:r>
              <a:t>2. Single-Click Status Toggling</a:t>
            </a:r>
          </a:p>
          <a:p>
            <a:pPr>
              <a:defRPr sz="950">
                <a:solidFill>
                  <a:srgbClr val="334155"/>
                </a:solidFill>
              </a:defRPr>
            </a:pPr>
            <a:r>
              <a:t>Students can click directly on any node status badge to cycle through Not Started ➔ In Progress ➔ Completed in 1 second. Includes a right-click context menu for direct jumps.</a:t>
            </a:r>
          </a:p>
        </p:txBody>
      </p:sp>
      <p:sp>
        <p:nvSpPr>
          <p:cNvPr id="10" name="Rounded Rectangle 9"/>
          <p:cNvSpPr/>
          <p:nvPr/>
        </p:nvSpPr>
        <p:spPr>
          <a:xfrm>
            <a:off x="731520" y="3840480"/>
            <a:ext cx="5120640" cy="21031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023360"/>
            <a:ext cx="4663440" cy="1737360"/>
          </a:xfrm>
          <a:prstGeom prst="rect">
            <a:avLst/>
          </a:prstGeom>
          <a:noFill/>
        </p:spPr>
        <p:txBody>
          <a:bodyPr wrap="square">
            <a:spAutoFit/>
          </a:bodyPr>
          <a:lstStyle/>
          <a:p>
            <a:pPr>
              <a:spcAft>
                <a:spcPts val="600"/>
              </a:spcAft>
              <a:defRPr sz="1250" b="1">
                <a:solidFill>
                  <a:srgbClr val="1E3A8A"/>
                </a:solidFill>
              </a:defRPr>
            </a:pPr>
            <a:r>
              <a:t>3. Slide-Out Topic Preview Drawer</a:t>
            </a:r>
          </a:p>
          <a:p>
            <a:pPr>
              <a:defRPr sz="950">
                <a:solidFill>
                  <a:srgbClr val="334155"/>
                </a:solidFill>
              </a:defRPr>
            </a:pPr>
            <a:r>
              <a:t>Clicking any node slides open an in-canvas preview drawer without leaving the roadmap. Displays 'Why It Matters', curated documentation, video tutorials, and interactive lesson checklists.</a:t>
            </a:r>
          </a:p>
        </p:txBody>
      </p:sp>
      <p:sp>
        <p:nvSpPr>
          <p:cNvPr id="12" name="Rounded Rectangle 11"/>
          <p:cNvSpPr/>
          <p:nvPr/>
        </p:nvSpPr>
        <p:spPr>
          <a:xfrm>
            <a:off x="6217920" y="3840480"/>
            <a:ext cx="5120640" cy="21031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4023360"/>
            <a:ext cx="4663440" cy="1737360"/>
          </a:xfrm>
          <a:prstGeom prst="rect">
            <a:avLst/>
          </a:prstGeom>
          <a:noFill/>
        </p:spPr>
        <p:txBody>
          <a:bodyPr wrap="square">
            <a:spAutoFit/>
          </a:bodyPr>
          <a:lstStyle/>
          <a:p>
            <a:pPr>
              <a:spcAft>
                <a:spcPts val="600"/>
              </a:spcAft>
              <a:defRPr sz="1250" b="1">
                <a:solidFill>
                  <a:srgbClr val="1E3A8A"/>
                </a:solidFill>
              </a:defRPr>
            </a:pPr>
            <a:r>
              <a:t>4. In-Place Career Switcher Modal</a:t>
            </a:r>
          </a:p>
          <a:p>
            <a:pPr>
              <a:defRPr sz="950">
                <a:solidFill>
                  <a:srgbClr val="334155"/>
                </a:solidFill>
              </a:defRPr>
            </a:pPr>
            <a:r>
              <a:t>Allows switching target career tracks instantly with real-time stream (CS, IT, AI/DS) and degree (B.Tech, BCA, B.Sc) filtering while preserving completed progress.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000" b="1">
                <a:solidFill>
                  <a:srgbClr val="0284C7"/>
                </a:solidFill>
              </a:defRPr>
            </a:pPr>
            <a:r>
              <a:t>QUALITY ASSURANCE &amp; RESULTS</a:t>
            </a:r>
          </a:p>
        </p:txBody>
      </p:sp>
      <p:sp>
        <p:nvSpPr>
          <p:cNvPr id="3" name="TextBox 2"/>
          <p:cNvSpPr txBox="1"/>
          <p:nvPr/>
        </p:nvSpPr>
        <p:spPr>
          <a:xfrm>
            <a:off x="731520" y="640080"/>
            <a:ext cx="10515600" cy="502920"/>
          </a:xfrm>
          <a:prstGeom prst="rect">
            <a:avLst/>
          </a:prstGeom>
          <a:noFill/>
        </p:spPr>
        <p:txBody>
          <a:bodyPr wrap="square" lIns="0" tIns="0" rIns="0" bIns="0">
            <a:spAutoFit/>
          </a:bodyPr>
          <a:lstStyle/>
          <a:p>
            <a:pPr>
              <a:defRPr sz="2200" b="1">
                <a:solidFill>
                  <a:srgbClr val="1E3A8A"/>
                </a:solidFill>
              </a:defRPr>
            </a:pPr>
            <a:r>
              <a:t>System Testing &amp; Functional Validation</a:t>
            </a:r>
          </a:p>
        </p:txBody>
      </p:sp>
      <p:sp>
        <p:nvSpPr>
          <p:cNvPr id="4" name="Rectangle 3"/>
          <p:cNvSpPr/>
          <p:nvPr/>
        </p:nvSpPr>
        <p:spPr>
          <a:xfrm>
            <a:off x="731520" y="11887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lIns="0" tIns="0" rIns="0" bIns="0">
            <a:spAutoFit/>
          </a:bodyPr>
          <a:lstStyle/>
          <a:p>
            <a:pPr>
              <a:defRPr sz="900">
                <a:solidFill>
                  <a:srgbClr val="94A3B8"/>
                </a:solidFill>
              </a:defRPr>
            </a:pPr>
            <a:r>
              <a:t>Career Graph — Project Presentation  |  Group No. 06  |  Department of Computer Engineering / IT</a:t>
            </a:r>
          </a:p>
        </p:txBody>
      </p:sp>
      <p:graphicFrame>
        <p:nvGraphicFramePr>
          <p:cNvPr id="6" name="Table 5"/>
          <p:cNvGraphicFramePr>
            <a:graphicFrameLocks noGrp="1"/>
          </p:cNvGraphicFramePr>
          <p:nvPr/>
        </p:nvGraphicFramePr>
        <p:xfrm>
          <a:off x="731520" y="1463040"/>
          <a:ext cx="10728655" cy="4389120"/>
        </p:xfrm>
        <a:graphic>
          <a:graphicData uri="http://schemas.openxmlformats.org/drawingml/2006/table">
            <a:tbl>
              <a:tblPr firstRow="1" bandRow="1">
                <a:tableStyleId>{5C22544A-7EE6-4342-B048-85BDC9FD1C3A}</a:tableStyleId>
              </a:tblPr>
              <a:tblGrid>
                <a:gridCol w="1097280"/>
                <a:gridCol w="2926080"/>
                <a:gridCol w="5425135"/>
                <a:gridCol w="1280160"/>
              </a:tblGrid>
              <a:tr h="548640">
                <a:tc>
                  <a:txBody>
                    <a:bodyPr/>
                    <a:lstStyle/>
                    <a:p>
                      <a:pPr algn="ctr">
                        <a:defRPr b="1" sz="1050">
                          <a:solidFill>
                            <a:srgbClr val="FFFFFF"/>
                          </a:solidFill>
                        </a:defRPr>
                      </a:pPr>
                      <a:r>
                        <a:t>Test ID</a:t>
                      </a:r>
                    </a:p>
                  </a:txBody>
                  <a:tcPr>
                    <a:solidFill>
                      <a:srgbClr val="1E3A8A"/>
                    </a:solidFill>
                  </a:tcPr>
                </a:tc>
                <a:tc>
                  <a:txBody>
                    <a:bodyPr/>
                    <a:lstStyle/>
                    <a:p>
                      <a:pPr algn="ctr">
                        <a:defRPr b="1" sz="1050">
                          <a:solidFill>
                            <a:srgbClr val="FFFFFF"/>
                          </a:solidFill>
                        </a:defRPr>
                      </a:pPr>
                      <a:r>
                        <a:t>Test Scenario</a:t>
                      </a:r>
                    </a:p>
                  </a:txBody>
                  <a:tcPr>
                    <a:solidFill>
                      <a:srgbClr val="1E3A8A"/>
                    </a:solidFill>
                  </a:tcPr>
                </a:tc>
                <a:tc>
                  <a:txBody>
                    <a:bodyPr/>
                    <a:lstStyle/>
                    <a:p>
                      <a:pPr algn="ctr">
                        <a:defRPr b="1" sz="1050">
                          <a:solidFill>
                            <a:srgbClr val="FFFFFF"/>
                          </a:solidFill>
                        </a:defRPr>
                      </a:pPr>
                      <a:r>
                        <a:t>Expected System Behavior</a:t>
                      </a:r>
                    </a:p>
                  </a:txBody>
                  <a:tcPr>
                    <a:solidFill>
                      <a:srgbClr val="1E3A8A"/>
                    </a:solidFill>
                  </a:tcPr>
                </a:tc>
                <a:tc>
                  <a:txBody>
                    <a:bodyPr/>
                    <a:lstStyle/>
                    <a:p>
                      <a:pPr algn="ctr">
                        <a:defRPr b="1" sz="1050">
                          <a:solidFill>
                            <a:srgbClr val="FFFFFF"/>
                          </a:solidFill>
                        </a:defRPr>
                      </a:pPr>
                      <a:r>
                        <a:t>Result</a:t>
                      </a:r>
                    </a:p>
                  </a:txBody>
                  <a:tcPr>
                    <a:solidFill>
                      <a:srgbClr val="1E3A8A"/>
                    </a:solidFill>
                  </a:tcPr>
                </a:tc>
              </a:tr>
              <a:tr h="548640">
                <a:tc>
                  <a:txBody>
                    <a:bodyPr/>
                    <a:lstStyle/>
                    <a:p>
                      <a:pPr algn="ctr">
                        <a:defRPr sz="950" b="1">
                          <a:solidFill>
                            <a:srgbClr val="0F172A"/>
                          </a:solidFill>
                        </a:defRPr>
                      </a:pPr>
                      <a:r>
                        <a:t>TC-01</a:t>
                      </a:r>
                    </a:p>
                  </a:txBody>
                  <a:tcPr>
                    <a:solidFill>
                      <a:srgbClr val="F8FAFC"/>
                    </a:solidFill>
                  </a:tcPr>
                </a:tc>
                <a:tc>
                  <a:txBody>
                    <a:bodyPr/>
                    <a:lstStyle/>
                    <a:p>
                      <a:pPr>
                        <a:defRPr sz="950">
                          <a:solidFill>
                            <a:srgbClr val="0F172A"/>
                          </a:solidFill>
                        </a:defRPr>
                      </a:pPr>
                      <a:r>
                        <a:t>User Auth &amp; Bcrypt Security</a:t>
                      </a:r>
                    </a:p>
                  </a:txBody>
                  <a:tcPr>
                    <a:solidFill>
                      <a:srgbClr val="F8FAFC"/>
                    </a:solidFill>
                  </a:tcPr>
                </a:tc>
                <a:tc>
                  <a:txBody>
                    <a:bodyPr/>
                    <a:lstStyle/>
                    <a:p>
                      <a:pPr>
                        <a:defRPr sz="950">
                          <a:solidFill>
                            <a:srgbClr val="0F172A"/>
                          </a:solidFill>
                        </a:defRPr>
                      </a:pPr>
                      <a:r>
                        <a:t>Password hashed with 10 salt rounds; stateless JWT issued on login</a:t>
                      </a:r>
                    </a:p>
                  </a:txBody>
                  <a:tcPr>
                    <a:solidFill>
                      <a:srgbClr val="F8FAFC"/>
                    </a:solidFill>
                  </a:tcPr>
                </a:tc>
                <a:tc>
                  <a:txBody>
                    <a:bodyPr/>
                    <a:lstStyle/>
                    <a:p>
                      <a:pPr algn="ctr">
                        <a:defRPr sz="950" b="1">
                          <a:solidFill>
                            <a:srgbClr val="166534"/>
                          </a:solidFill>
                        </a:defRPr>
                      </a:pPr>
                      <a:r>
                        <a:t>PASS</a:t>
                      </a:r>
                    </a:p>
                  </a:txBody>
                  <a:tcPr>
                    <a:solidFill>
                      <a:srgbClr val="F8FAFC"/>
                    </a:solidFill>
                  </a:tcPr>
                </a:tc>
              </a:tr>
              <a:tr h="548640">
                <a:tc>
                  <a:txBody>
                    <a:bodyPr/>
                    <a:lstStyle/>
                    <a:p>
                      <a:pPr algn="ctr">
                        <a:defRPr sz="950" b="1">
                          <a:solidFill>
                            <a:srgbClr val="0F172A"/>
                          </a:solidFill>
                        </a:defRPr>
                      </a:pPr>
                      <a:r>
                        <a:t>TC-02</a:t>
                      </a:r>
                    </a:p>
                  </a:txBody>
                  <a:tcPr>
                    <a:solidFill>
                      <a:srgbClr val="FFFFFF"/>
                    </a:solidFill>
                  </a:tcPr>
                </a:tc>
                <a:tc>
                  <a:txBody>
                    <a:bodyPr/>
                    <a:lstStyle/>
                    <a:p>
                      <a:pPr>
                        <a:defRPr sz="950">
                          <a:solidFill>
                            <a:srgbClr val="0F172A"/>
                          </a:solidFill>
                        </a:defRPr>
                      </a:pPr>
                      <a:r>
                        <a:t>Onboarding Gap Calculation</a:t>
                      </a:r>
                    </a:p>
                  </a:txBody>
                  <a:tcPr>
                    <a:solidFill>
                      <a:srgbClr val="FFFFFF"/>
                    </a:solidFill>
                  </a:tcPr>
                </a:tc>
                <a:tc>
                  <a:txBody>
                    <a:bodyPr/>
                    <a:lstStyle/>
                    <a:p>
                      <a:pPr>
                        <a:defRPr sz="950">
                          <a:solidFill>
                            <a:srgbClr val="0F172A"/>
                          </a:solidFill>
                        </a:defRPr>
                      </a:pPr>
                      <a:r>
                        <a:t>Baseline self-ratings properly map to completed / in-progress states</a:t>
                      </a:r>
                    </a:p>
                  </a:txBody>
                  <a:tcPr>
                    <a:solidFill>
                      <a:srgbClr val="FFFFFF"/>
                    </a:solidFill>
                  </a:tcPr>
                </a:tc>
                <a:tc>
                  <a:txBody>
                    <a:bodyPr/>
                    <a:lstStyle/>
                    <a:p>
                      <a:pPr algn="ctr">
                        <a:defRPr sz="950" b="1">
                          <a:solidFill>
                            <a:srgbClr val="166534"/>
                          </a:solidFill>
                        </a:defRPr>
                      </a:pPr>
                      <a:r>
                        <a:t>PASS</a:t>
                      </a:r>
                    </a:p>
                  </a:txBody>
                  <a:tcPr>
                    <a:solidFill>
                      <a:srgbClr val="FFFFFF"/>
                    </a:solidFill>
                  </a:tcPr>
                </a:tc>
              </a:tr>
              <a:tr h="548640">
                <a:tc>
                  <a:txBody>
                    <a:bodyPr/>
                    <a:lstStyle/>
                    <a:p>
                      <a:pPr algn="ctr">
                        <a:defRPr sz="950" b="1">
                          <a:solidFill>
                            <a:srgbClr val="0F172A"/>
                          </a:solidFill>
                        </a:defRPr>
                      </a:pPr>
                      <a:r>
                        <a:t>TC-03</a:t>
                      </a:r>
                    </a:p>
                  </a:txBody>
                  <a:tcPr>
                    <a:solidFill>
                      <a:srgbClr val="F8FAFC"/>
                    </a:solidFill>
                  </a:tcPr>
                </a:tc>
                <a:tc>
                  <a:txBody>
                    <a:bodyPr/>
                    <a:lstStyle/>
                    <a:p>
                      <a:pPr>
                        <a:defRPr sz="950">
                          <a:solidFill>
                            <a:srgbClr val="0F172A"/>
                          </a:solidFill>
                        </a:defRPr>
                      </a:pPr>
                      <a:r>
                        <a:t>Topological Prerequisite Lock</a:t>
                      </a:r>
                    </a:p>
                  </a:txBody>
                  <a:tcPr>
                    <a:solidFill>
                      <a:srgbClr val="F8FAFC"/>
                    </a:solidFill>
                  </a:tcPr>
                </a:tc>
                <a:tc>
                  <a:txBody>
                    <a:bodyPr/>
                    <a:lstStyle/>
                    <a:p>
                      <a:pPr>
                        <a:defRPr sz="950">
                          <a:solidFill>
                            <a:srgbClr val="0F172A"/>
                          </a:solidFill>
                        </a:defRPr>
                      </a:pPr>
                      <a:r>
                        <a:t>Phase 2 &amp; Phase 3 remain locked until preceding phase skills complete</a:t>
                      </a:r>
                    </a:p>
                  </a:txBody>
                  <a:tcPr>
                    <a:solidFill>
                      <a:srgbClr val="F8FAFC"/>
                    </a:solidFill>
                  </a:tcPr>
                </a:tc>
                <a:tc>
                  <a:txBody>
                    <a:bodyPr/>
                    <a:lstStyle/>
                    <a:p>
                      <a:pPr algn="ctr">
                        <a:defRPr sz="950" b="1">
                          <a:solidFill>
                            <a:srgbClr val="166534"/>
                          </a:solidFill>
                        </a:defRPr>
                      </a:pPr>
                      <a:r>
                        <a:t>PASS</a:t>
                      </a:r>
                    </a:p>
                  </a:txBody>
                  <a:tcPr>
                    <a:solidFill>
                      <a:srgbClr val="F8FAFC"/>
                    </a:solidFill>
                  </a:tcPr>
                </a:tc>
              </a:tr>
              <a:tr h="548640">
                <a:tc>
                  <a:txBody>
                    <a:bodyPr/>
                    <a:lstStyle/>
                    <a:p>
                      <a:pPr algn="ctr">
                        <a:defRPr sz="950" b="1">
                          <a:solidFill>
                            <a:srgbClr val="0F172A"/>
                          </a:solidFill>
                        </a:defRPr>
                      </a:pPr>
                      <a:r>
                        <a:t>TC-04</a:t>
                      </a:r>
                    </a:p>
                  </a:txBody>
                  <a:tcPr>
                    <a:solidFill>
                      <a:srgbClr val="FFFFFF"/>
                    </a:solidFill>
                  </a:tcPr>
                </a:tc>
                <a:tc>
                  <a:txBody>
                    <a:bodyPr/>
                    <a:lstStyle/>
                    <a:p>
                      <a:pPr>
                        <a:defRPr sz="950">
                          <a:solidFill>
                            <a:srgbClr val="0F172A"/>
                          </a:solidFill>
                        </a:defRPr>
                      </a:pPr>
                      <a:r>
                        <a:t>1-Click Canvas Status Toggle</a:t>
                      </a:r>
                    </a:p>
                  </a:txBody>
                  <a:tcPr>
                    <a:solidFill>
                      <a:srgbClr val="FFFFFF"/>
                    </a:solidFill>
                  </a:tcPr>
                </a:tc>
                <a:tc>
                  <a:txBody>
                    <a:bodyPr/>
                    <a:lstStyle/>
                    <a:p>
                      <a:pPr>
                        <a:defRPr sz="950">
                          <a:solidFill>
                            <a:srgbClr val="0F172A"/>
                          </a:solidFill>
                        </a:defRPr>
                      </a:pPr>
                      <a:r>
                        <a:t>Node badge toggle triggers optimistic UI and atomic database rollup</a:t>
                      </a:r>
                    </a:p>
                  </a:txBody>
                  <a:tcPr>
                    <a:solidFill>
                      <a:srgbClr val="FFFFFF"/>
                    </a:solidFill>
                  </a:tcPr>
                </a:tc>
                <a:tc>
                  <a:txBody>
                    <a:bodyPr/>
                    <a:lstStyle/>
                    <a:p>
                      <a:pPr algn="ctr">
                        <a:defRPr sz="950" b="1">
                          <a:solidFill>
                            <a:srgbClr val="166534"/>
                          </a:solidFill>
                        </a:defRPr>
                      </a:pPr>
                      <a:r>
                        <a:t>PASS</a:t>
                      </a:r>
                    </a:p>
                  </a:txBody>
                  <a:tcPr>
                    <a:solidFill>
                      <a:srgbClr val="FFFFFF"/>
                    </a:solidFill>
                  </a:tcPr>
                </a:tc>
              </a:tr>
              <a:tr h="548640">
                <a:tc>
                  <a:txBody>
                    <a:bodyPr/>
                    <a:lstStyle/>
                    <a:p>
                      <a:pPr algn="ctr">
                        <a:defRPr sz="950" b="1">
                          <a:solidFill>
                            <a:srgbClr val="0F172A"/>
                          </a:solidFill>
                        </a:defRPr>
                      </a:pPr>
                      <a:r>
                        <a:t>TC-05</a:t>
                      </a:r>
                    </a:p>
                  </a:txBody>
                  <a:tcPr>
                    <a:solidFill>
                      <a:srgbClr val="F8FAFC"/>
                    </a:solidFill>
                  </a:tcPr>
                </a:tc>
                <a:tc>
                  <a:txBody>
                    <a:bodyPr/>
                    <a:lstStyle/>
                    <a:p>
                      <a:pPr>
                        <a:defRPr sz="950">
                          <a:solidFill>
                            <a:srgbClr val="0F172A"/>
                          </a:solidFill>
                        </a:defRPr>
                      </a:pPr>
                      <a:r>
                        <a:t>Quiz Payload Sanitization</a:t>
                      </a:r>
                    </a:p>
                  </a:txBody>
                  <a:tcPr>
                    <a:solidFill>
                      <a:srgbClr val="F8FAFC"/>
                    </a:solidFill>
                  </a:tcPr>
                </a:tc>
                <a:tc>
                  <a:txBody>
                    <a:bodyPr/>
                    <a:lstStyle/>
                    <a:p>
                      <a:pPr>
                        <a:defRPr sz="950">
                          <a:solidFill>
                            <a:srgbClr val="0F172A"/>
                          </a:solidFill>
                        </a:defRPr>
                      </a:pPr>
                      <a:r>
                        <a:t>correctIndex and explanation stripped from GET requests in DevTools</a:t>
                      </a:r>
                    </a:p>
                  </a:txBody>
                  <a:tcPr>
                    <a:solidFill>
                      <a:srgbClr val="F8FAFC"/>
                    </a:solidFill>
                  </a:tcPr>
                </a:tc>
                <a:tc>
                  <a:txBody>
                    <a:bodyPr/>
                    <a:lstStyle/>
                    <a:p>
                      <a:pPr algn="ctr">
                        <a:defRPr sz="950" b="1">
                          <a:solidFill>
                            <a:srgbClr val="166534"/>
                          </a:solidFill>
                        </a:defRPr>
                      </a:pPr>
                      <a:r>
                        <a:t>PASS</a:t>
                      </a:r>
                    </a:p>
                  </a:txBody>
                  <a:tcPr>
                    <a:solidFill>
                      <a:srgbClr val="F8FAFC"/>
                    </a:solidFill>
                  </a:tcPr>
                </a:tc>
              </a:tr>
              <a:tr h="548640">
                <a:tc>
                  <a:txBody>
                    <a:bodyPr/>
                    <a:lstStyle/>
                    <a:p>
                      <a:pPr algn="ctr">
                        <a:defRPr sz="950" b="1">
                          <a:solidFill>
                            <a:srgbClr val="0F172A"/>
                          </a:solidFill>
                        </a:defRPr>
                      </a:pPr>
                      <a:r>
                        <a:t>TC-06</a:t>
                      </a:r>
                    </a:p>
                  </a:txBody>
                  <a:tcPr>
                    <a:solidFill>
                      <a:srgbClr val="FFFFFF"/>
                    </a:solidFill>
                  </a:tcPr>
                </a:tc>
                <a:tc>
                  <a:txBody>
                    <a:bodyPr/>
                    <a:lstStyle/>
                    <a:p>
                      <a:pPr>
                        <a:defRPr sz="950">
                          <a:solidFill>
                            <a:srgbClr val="0F172A"/>
                          </a:solidFill>
                        </a:defRPr>
                      </a:pPr>
                      <a:r>
                        <a:t>Server-Side Quiz Verification</a:t>
                      </a:r>
                    </a:p>
                  </a:txBody>
                  <a:tcPr>
                    <a:solidFill>
                      <a:srgbClr val="FFFFFF"/>
                    </a:solidFill>
                  </a:tcPr>
                </a:tc>
                <a:tc>
                  <a:txBody>
                    <a:bodyPr/>
                    <a:lstStyle/>
                    <a:p>
                      <a:pPr>
                        <a:defRPr sz="950">
                          <a:solidFill>
                            <a:srgbClr val="0F172A"/>
                          </a:solidFill>
                        </a:defRPr>
                      </a:pPr>
                      <a:r>
                        <a:t>Score &gt;= 2/3 awards Verified Badge &amp; elevates user skill profile</a:t>
                      </a:r>
                    </a:p>
                  </a:txBody>
                  <a:tcPr>
                    <a:solidFill>
                      <a:srgbClr val="FFFFFF"/>
                    </a:solidFill>
                  </a:tcPr>
                </a:tc>
                <a:tc>
                  <a:txBody>
                    <a:bodyPr/>
                    <a:lstStyle/>
                    <a:p>
                      <a:pPr algn="ctr">
                        <a:defRPr sz="950" b="1">
                          <a:solidFill>
                            <a:srgbClr val="166534"/>
                          </a:solidFill>
                        </a:defRPr>
                      </a:pPr>
                      <a:r>
                        <a:t>PASS</a:t>
                      </a:r>
                    </a:p>
                  </a:txBody>
                  <a:tcPr>
                    <a:solidFill>
                      <a:srgbClr val="FFFFFF"/>
                    </a:solidFill>
                  </a:tcPr>
                </a:tc>
              </a:tr>
              <a:tr h="548640">
                <a:tc>
                  <a:txBody>
                    <a:bodyPr/>
                    <a:lstStyle/>
                    <a:p>
                      <a:pPr algn="ctr">
                        <a:defRPr sz="950" b="1">
                          <a:solidFill>
                            <a:srgbClr val="0F172A"/>
                          </a:solidFill>
                        </a:defRPr>
                      </a:pPr>
                      <a:r>
                        <a:t>TC-07</a:t>
                      </a:r>
                    </a:p>
                  </a:txBody>
                  <a:tcPr>
                    <a:solidFill>
                      <a:srgbClr val="F8FAFC"/>
                    </a:solidFill>
                  </a:tcPr>
                </a:tc>
                <a:tc>
                  <a:txBody>
                    <a:bodyPr/>
                    <a:lstStyle/>
                    <a:p>
                      <a:pPr>
                        <a:defRPr sz="950">
                          <a:solidFill>
                            <a:srgbClr val="0F172A"/>
                          </a:solidFill>
                        </a:defRPr>
                      </a:pPr>
                      <a:r>
                        <a:t>Universal Cross-Track Credit</a:t>
                      </a:r>
                    </a:p>
                  </a:txBody>
                  <a:tcPr>
                    <a:solidFill>
                      <a:srgbClr val="F8FAFC"/>
                    </a:solidFill>
                  </a:tcPr>
                </a:tc>
                <a:tc>
                  <a:txBody>
                    <a:bodyPr/>
                    <a:lstStyle/>
                    <a:p>
                      <a:pPr>
                        <a:defRPr sz="950">
                          <a:solidFill>
                            <a:srgbClr val="0F172A"/>
                          </a:solidFill>
                        </a:defRPr>
                      </a:pPr>
                      <a:r>
                        <a:t>Completed skills in Full Stack reflect automatically in DevOps track</a:t>
                      </a:r>
                    </a:p>
                  </a:txBody>
                  <a:tcPr>
                    <a:solidFill>
                      <a:srgbClr val="F8FAFC"/>
                    </a:solidFill>
                  </a:tcPr>
                </a:tc>
                <a:tc>
                  <a:txBody>
                    <a:bodyPr/>
                    <a:lstStyle/>
                    <a:p>
                      <a:pPr algn="ctr">
                        <a:defRPr sz="950" b="1">
                          <a:solidFill>
                            <a:srgbClr val="166534"/>
                          </a:solidFill>
                        </a:defRPr>
                      </a:pPr>
                      <a:r>
                        <a:t>PASS</a:t>
                      </a:r>
                    </a:p>
                  </a:txBody>
                  <a:tcPr>
                    <a:solidFill>
                      <a:srgbClr val="F8FAFC"/>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000" b="1">
                <a:solidFill>
                  <a:srgbClr val="0284C7"/>
                </a:solidFill>
              </a:defRPr>
            </a:pPr>
            <a:r>
              <a:t>DEPLOYMENT &amp; INFRASTRUCTURE</a:t>
            </a:r>
          </a:p>
        </p:txBody>
      </p:sp>
      <p:sp>
        <p:nvSpPr>
          <p:cNvPr id="3" name="TextBox 2"/>
          <p:cNvSpPr txBox="1"/>
          <p:nvPr/>
        </p:nvSpPr>
        <p:spPr>
          <a:xfrm>
            <a:off x="731520" y="640080"/>
            <a:ext cx="10515600" cy="502920"/>
          </a:xfrm>
          <a:prstGeom prst="rect">
            <a:avLst/>
          </a:prstGeom>
          <a:noFill/>
        </p:spPr>
        <p:txBody>
          <a:bodyPr wrap="square" lIns="0" tIns="0" rIns="0" bIns="0">
            <a:spAutoFit/>
          </a:bodyPr>
          <a:lstStyle/>
          <a:p>
            <a:pPr>
              <a:defRPr sz="2200" b="1">
                <a:solidFill>
                  <a:srgbClr val="1E3A8A"/>
                </a:solidFill>
              </a:defRPr>
            </a:pPr>
            <a:r>
              <a:t>Production Deployment &amp; Operational Architecture</a:t>
            </a:r>
          </a:p>
        </p:txBody>
      </p:sp>
      <p:sp>
        <p:nvSpPr>
          <p:cNvPr id="4" name="Rectangle 3"/>
          <p:cNvSpPr/>
          <p:nvPr/>
        </p:nvSpPr>
        <p:spPr>
          <a:xfrm>
            <a:off x="731520" y="11887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lIns="0" tIns="0" rIns="0" bIns="0">
            <a:spAutoFit/>
          </a:bodyPr>
          <a:lstStyle/>
          <a:p>
            <a:pPr>
              <a:defRPr sz="900">
                <a:solidFill>
                  <a:srgbClr val="94A3B8"/>
                </a:solidFill>
              </a:defRPr>
            </a:pPr>
            <a:r>
              <a:t>Career Graph — Project Presentation  |  Group No. 06  |  Department of Computer Engineering / IT</a:t>
            </a:r>
          </a:p>
        </p:txBody>
      </p:sp>
      <p:sp>
        <p:nvSpPr>
          <p:cNvPr id="6" name="Rounded Rectangle 5"/>
          <p:cNvSpPr/>
          <p:nvPr/>
        </p:nvSpPr>
        <p:spPr>
          <a:xfrm>
            <a:off x="731520" y="1463040"/>
            <a:ext cx="3328416" cy="44805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40"/>
            <a:ext cx="2962656" cy="4023360"/>
          </a:xfrm>
          <a:prstGeom prst="rect">
            <a:avLst/>
          </a:prstGeom>
          <a:noFill/>
        </p:spPr>
        <p:txBody>
          <a:bodyPr wrap="square">
            <a:spAutoFit/>
          </a:bodyPr>
          <a:lstStyle/>
          <a:p>
            <a:pPr>
              <a:defRPr sz="1300" b="1">
                <a:solidFill>
                  <a:srgbClr val="1E3A8A"/>
                </a:solidFill>
              </a:defRPr>
            </a:pPr>
            <a:r>
              <a:t>Frontend: Vercel Edge Network</a:t>
            </a:r>
          </a:p>
          <a:p>
            <a:pPr>
              <a:spcAft>
                <a:spcPts val="1000"/>
              </a:spcAft>
              <a:defRPr sz="850" b="1">
                <a:solidFill>
                  <a:srgbClr val="0284C7"/>
                </a:solidFill>
              </a:defRPr>
            </a:pPr>
            <a:r>
              <a:t>SINGLE PAGE APPLICATION (SPA)</a:t>
            </a:r>
          </a:p>
          <a:p>
            <a:pPr>
              <a:defRPr sz="950">
                <a:solidFill>
                  <a:srgbClr val="334155"/>
                </a:solidFill>
              </a:defRPr>
            </a:pPr>
            <a:r>
              <a:t>• Framework: Vue 3 (Composition API, &lt;script setup&gt;), Vite 5.3.</a:t>
            </a:r>
            <a:br/>
            <a:r>
              <a:t>• Deployment: Hosted on Vercel Global Edge CDN.</a:t>
            </a:r>
            <a:br/>
            <a:r>
              <a:t>• SPA Routing: vercel.json catch-all rewrite rule (/(.*) -&gt; /) prevents 404s on browser refresh.</a:t>
            </a:r>
            <a:br/>
            <a:r>
              <a:t>• Environment: VITE_API_BASE_URL pointing to live backend API.</a:t>
            </a:r>
          </a:p>
        </p:txBody>
      </p:sp>
      <p:sp>
        <p:nvSpPr>
          <p:cNvPr id="8" name="Rounded Rectangle 7"/>
          <p:cNvSpPr/>
          <p:nvPr/>
        </p:nvSpPr>
        <p:spPr>
          <a:xfrm>
            <a:off x="4425696" y="1463040"/>
            <a:ext cx="3328416" cy="44805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08576" y="1691640"/>
            <a:ext cx="2962656" cy="4023360"/>
          </a:xfrm>
          <a:prstGeom prst="rect">
            <a:avLst/>
          </a:prstGeom>
          <a:noFill/>
        </p:spPr>
        <p:txBody>
          <a:bodyPr wrap="square">
            <a:spAutoFit/>
          </a:bodyPr>
          <a:lstStyle/>
          <a:p>
            <a:pPr>
              <a:defRPr sz="1300" b="1">
                <a:solidFill>
                  <a:srgbClr val="1E3A8A"/>
                </a:solidFill>
              </a:defRPr>
            </a:pPr>
            <a:r>
              <a:t>Backend: Render Web Service</a:t>
            </a:r>
          </a:p>
          <a:p>
            <a:pPr>
              <a:spcAft>
                <a:spcPts val="1000"/>
              </a:spcAft>
              <a:defRPr sz="850" b="1">
                <a:solidFill>
                  <a:srgbClr val="0284C7"/>
                </a:solidFill>
              </a:defRPr>
            </a:pPr>
            <a:r>
              <a:t>RESTFUL API &amp; GRAPH ENGINE</a:t>
            </a:r>
          </a:p>
          <a:p>
            <a:pPr>
              <a:defRPr sz="950">
                <a:solidFill>
                  <a:srgbClr val="334155"/>
                </a:solidFill>
              </a:defRPr>
            </a:pPr>
            <a:r>
              <a:t>• Runtime: Node.js 18+ &amp; Express 4.19 Framework.</a:t>
            </a:r>
            <a:br/>
            <a:r>
              <a:t>• Deployment: Deployed on Render Web Service with continuous integration.</a:t>
            </a:r>
            <a:br/>
            <a:r>
              <a:t>• Auto-Deploy: Triggers automatically on git push to main branch.</a:t>
            </a:r>
            <a:br/>
            <a:r>
              <a:t>• Security: CORS whitelisting, stateless JWT authorization.</a:t>
            </a:r>
          </a:p>
        </p:txBody>
      </p:sp>
      <p:sp>
        <p:nvSpPr>
          <p:cNvPr id="10" name="Rounded Rectangle 9"/>
          <p:cNvSpPr/>
          <p:nvPr/>
        </p:nvSpPr>
        <p:spPr>
          <a:xfrm>
            <a:off x="8119872" y="1463040"/>
            <a:ext cx="3328416" cy="44805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2752" y="1691640"/>
            <a:ext cx="2962656" cy="4023360"/>
          </a:xfrm>
          <a:prstGeom prst="rect">
            <a:avLst/>
          </a:prstGeom>
          <a:noFill/>
        </p:spPr>
        <p:txBody>
          <a:bodyPr wrap="square">
            <a:spAutoFit/>
          </a:bodyPr>
          <a:lstStyle/>
          <a:p>
            <a:pPr>
              <a:defRPr sz="1300" b="1">
                <a:solidFill>
                  <a:srgbClr val="1E3A8A"/>
                </a:solidFill>
              </a:defRPr>
            </a:pPr>
            <a:r>
              <a:t>Database: MongoDB Atlas</a:t>
            </a:r>
          </a:p>
          <a:p>
            <a:pPr>
              <a:spcAft>
                <a:spcPts val="1000"/>
              </a:spcAft>
              <a:defRPr sz="850" b="1">
                <a:solidFill>
                  <a:srgbClr val="0284C7"/>
                </a:solidFill>
              </a:defRPr>
            </a:pPr>
            <a:r>
              <a:t>MANAGED CLOUD REPLICA SET</a:t>
            </a:r>
          </a:p>
          <a:p>
            <a:pPr>
              <a:defRPr sz="950">
                <a:solidFill>
                  <a:srgbClr val="334155"/>
                </a:solidFill>
              </a:defRPr>
            </a:pPr>
            <a:r>
              <a:t>• Clustering: Managed MongoDB Atlas cloud cluster.</a:t>
            </a:r>
            <a:br/>
            <a:r>
              <a:t>• Schema ODM: Mongoose 8.5 with strict normalization &amp; indexes.</a:t>
            </a:r>
            <a:br/>
            <a:r>
              <a:t>• Reliability: Automated daily snapshots, IP access whitelisting, and connection pooling.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000" b="1">
                <a:solidFill>
                  <a:srgbClr val="0284C7"/>
                </a:solidFill>
              </a:defRPr>
            </a:pPr>
            <a:r>
              <a:t>CONCLUSION &amp; NEXT STEPS</a:t>
            </a:r>
          </a:p>
        </p:txBody>
      </p:sp>
      <p:sp>
        <p:nvSpPr>
          <p:cNvPr id="3" name="TextBox 2"/>
          <p:cNvSpPr txBox="1"/>
          <p:nvPr/>
        </p:nvSpPr>
        <p:spPr>
          <a:xfrm>
            <a:off x="731520" y="640080"/>
            <a:ext cx="10515600" cy="502920"/>
          </a:xfrm>
          <a:prstGeom prst="rect">
            <a:avLst/>
          </a:prstGeom>
          <a:noFill/>
        </p:spPr>
        <p:txBody>
          <a:bodyPr wrap="square" lIns="0" tIns="0" rIns="0" bIns="0">
            <a:spAutoFit/>
          </a:bodyPr>
          <a:lstStyle/>
          <a:p>
            <a:pPr>
              <a:defRPr sz="2200" b="1">
                <a:solidFill>
                  <a:srgbClr val="1E3A8A"/>
                </a:solidFill>
              </a:defRPr>
            </a:pPr>
            <a:r>
              <a:t>Conclusion &amp; Future Enhancements</a:t>
            </a:r>
          </a:p>
        </p:txBody>
      </p:sp>
      <p:sp>
        <p:nvSpPr>
          <p:cNvPr id="4" name="Rectangle 3"/>
          <p:cNvSpPr/>
          <p:nvPr/>
        </p:nvSpPr>
        <p:spPr>
          <a:xfrm>
            <a:off x="731520" y="11887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lIns="0" tIns="0" rIns="0" bIns="0">
            <a:spAutoFit/>
          </a:bodyPr>
          <a:lstStyle/>
          <a:p>
            <a:pPr>
              <a:defRPr sz="900">
                <a:solidFill>
                  <a:srgbClr val="94A3B8"/>
                </a:solidFill>
              </a:defRPr>
            </a:pPr>
            <a:r>
              <a:t>Career Graph — Project Presentation  |  Group No. 06  |  Department of Computer Engineering / IT</a:t>
            </a:r>
          </a:p>
        </p:txBody>
      </p:sp>
      <p:sp>
        <p:nvSpPr>
          <p:cNvPr id="6" name="Rounded Rectangle 5"/>
          <p:cNvSpPr/>
          <p:nvPr/>
        </p:nvSpPr>
        <p:spPr>
          <a:xfrm>
            <a:off x="731520" y="1463040"/>
            <a:ext cx="5120640" cy="365760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91640"/>
            <a:ext cx="4663440" cy="3200400"/>
          </a:xfrm>
          <a:prstGeom prst="rect">
            <a:avLst/>
          </a:prstGeom>
          <a:noFill/>
        </p:spPr>
        <p:txBody>
          <a:bodyPr wrap="square">
            <a:spAutoFit/>
          </a:bodyPr>
          <a:lstStyle/>
          <a:p>
            <a:pPr>
              <a:spcAft>
                <a:spcPts val="800"/>
              </a:spcAft>
              <a:defRPr b="1" sz="1400">
                <a:solidFill>
                  <a:srgbClr val="1E3A8A"/>
                </a:solidFill>
              </a:defRPr>
            </a:pPr>
            <a:r>
              <a:t>Key Project Outcomes</a:t>
            </a:r>
          </a:p>
          <a:p>
            <a:pPr>
              <a:spcAft>
                <a:spcPts val="400"/>
              </a:spcAft>
              <a:defRPr sz="1000">
                <a:solidFill>
                  <a:srgbClr val="0F172A"/>
                </a:solidFill>
              </a:defRPr>
            </a:pPr>
            <a:r>
              <a:t>✓ Delivered a fully responsive, interactive IT career guidance platform.</a:t>
            </a:r>
          </a:p>
          <a:p>
            <a:pPr>
              <a:spcAft>
                <a:spcPts val="400"/>
              </a:spcAft>
              <a:defRPr sz="1000">
                <a:solidFill>
                  <a:srgbClr val="0F172A"/>
                </a:solidFill>
              </a:defRPr>
            </a:pPr>
            <a:r>
              <a:t>✓ Solved the problem of skipping core prerequisites via topological gating.</a:t>
            </a:r>
          </a:p>
          <a:p>
            <a:pPr>
              <a:spcAft>
                <a:spcPts val="400"/>
              </a:spcAft>
              <a:defRPr sz="1000">
                <a:solidFill>
                  <a:srgbClr val="0F172A"/>
                </a:solidFill>
              </a:defRPr>
            </a:pPr>
            <a:r>
              <a:t>✓ Universal skill credit eliminates redundant learning across adjacent tracks.</a:t>
            </a:r>
          </a:p>
          <a:p>
            <a:pPr>
              <a:spcAft>
                <a:spcPts val="400"/>
              </a:spcAft>
              <a:defRPr sz="1000">
                <a:solidFill>
                  <a:srgbClr val="0F172A"/>
                </a:solidFill>
              </a:defRPr>
            </a:pPr>
            <a:r>
              <a:t>✓ Server-graded Proof-of-Skill quizzes provide credible, verifiable competency.</a:t>
            </a:r>
          </a:p>
          <a:p>
            <a:pPr>
              <a:spcAft>
                <a:spcPts val="400"/>
              </a:spcAft>
              <a:defRPr sz="1000">
                <a:solidFill>
                  <a:srgbClr val="0F172A"/>
                </a:solidFill>
              </a:defRPr>
            </a:pPr>
            <a:r>
              <a:t>✓ Production deployed on Vercel and Render with verified performance.</a:t>
            </a:r>
          </a:p>
        </p:txBody>
      </p:sp>
      <p:sp>
        <p:nvSpPr>
          <p:cNvPr id="8" name="Rounded Rectangle 7"/>
          <p:cNvSpPr/>
          <p:nvPr/>
        </p:nvSpPr>
        <p:spPr>
          <a:xfrm>
            <a:off x="6217920" y="1463040"/>
            <a:ext cx="5120640" cy="365760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91640"/>
            <a:ext cx="4663440" cy="3200400"/>
          </a:xfrm>
          <a:prstGeom prst="rect">
            <a:avLst/>
          </a:prstGeom>
          <a:noFill/>
        </p:spPr>
        <p:txBody>
          <a:bodyPr wrap="square">
            <a:spAutoFit/>
          </a:bodyPr>
          <a:lstStyle/>
          <a:p>
            <a:pPr>
              <a:spcAft>
                <a:spcPts val="800"/>
              </a:spcAft>
              <a:defRPr b="1" sz="1400">
                <a:solidFill>
                  <a:srgbClr val="1E3A8A"/>
                </a:solidFill>
              </a:defRPr>
            </a:pPr>
            <a:r>
              <a:t>Future Roadmap Enhancements</a:t>
            </a:r>
          </a:p>
          <a:p>
            <a:pPr>
              <a:spcAft>
                <a:spcPts val="400"/>
              </a:spcAft>
              <a:defRPr sz="1000">
                <a:solidFill>
                  <a:srgbClr val="0F172A"/>
                </a:solidFill>
              </a:defRPr>
            </a:pPr>
            <a:r>
              <a:t>• AI-Driven Adaptive Roadmaps: LLM hints &amp; explanations based on quiz errors.</a:t>
            </a:r>
          </a:p>
          <a:p>
            <a:pPr>
              <a:spcAft>
                <a:spcPts val="400"/>
              </a:spcAft>
              <a:defRPr sz="1000">
                <a:solidFill>
                  <a:srgbClr val="0F172A"/>
                </a:solidFill>
              </a:defRPr>
            </a:pPr>
            <a:r>
              <a:t>• In-Browser Code Sandboxes: WebAssembly coding playgrounds inside the topic drawer.</a:t>
            </a:r>
          </a:p>
          <a:p>
            <a:pPr>
              <a:spcAft>
                <a:spcPts val="400"/>
              </a:spcAft>
              <a:defRPr sz="1000">
                <a:solidFill>
                  <a:srgbClr val="0F172A"/>
                </a:solidFill>
              </a:defRPr>
            </a:pPr>
            <a:r>
              <a:t>• Community Roadmap Creator: Allowing verified mentors to publish emerging tracks.</a:t>
            </a:r>
          </a:p>
          <a:p>
            <a:pPr>
              <a:spcAft>
                <a:spcPts val="400"/>
              </a:spcAft>
              <a:defRPr sz="1000">
                <a:solidFill>
                  <a:srgbClr val="0F172A"/>
                </a:solidFill>
              </a:defRPr>
            </a:pPr>
            <a:r>
              <a:t>• Employer Talent Portal: Verified badge verification for recruiting pipelines.</a:t>
            </a:r>
          </a:p>
        </p:txBody>
      </p:sp>
      <p:sp>
        <p:nvSpPr>
          <p:cNvPr id="10" name="Rounded Rectangle 9"/>
          <p:cNvSpPr/>
          <p:nvPr/>
        </p:nvSpPr>
        <p:spPr>
          <a:xfrm>
            <a:off x="731520" y="5303520"/>
            <a:ext cx="10728655" cy="822960"/>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394960"/>
            <a:ext cx="10241280" cy="640080"/>
          </a:xfrm>
          <a:prstGeom prst="rect">
            <a:avLst/>
          </a:prstGeom>
          <a:noFill/>
        </p:spPr>
        <p:txBody>
          <a:bodyPr wrap="square">
            <a:spAutoFit/>
          </a:bodyPr>
          <a:lstStyle/>
          <a:p>
            <a:pPr algn="ctr">
              <a:defRPr b="1" sz="1300">
                <a:solidFill>
                  <a:srgbClr val="FFFFFF"/>
                </a:solidFill>
              </a:defRPr>
            </a:pPr>
            <a:r>
              <a:t>THANK YOU!   —   OPEN FOR QUESTIONS &amp; ANSWERS (Q&amp;A)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